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48" d="100"/>
          <a:sy n="148" d="100"/>
        </p:scale>
        <p:origin x="534" y="3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Menopause, SNS remodeling, and glycolysis in human adipose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Hypotheses, current GTEx v10 baseline readout, and validation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glycolysis is tricky here (what we know / don’t know)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>
              <a:defRPr sz="2000"/>
            </a:pPr>
            <a:r>
              <a:t>Meeting summary explicitly discussed an mRNA vs protein paradox for lipolysis (ATGL/PNPLA2, HSL/LIPE) in an HFD context; not glycolysis.</a:t>
            </a:r>
          </a:p>
          <a:p>
            <a:pPr>
              <a:defRPr sz="2000"/>
            </a:pPr>
            <a:r>
              <a:t>GTEx adipose is baseline bulk RNA-seq: no acute stimulation, no phospho/proteomics; transcript != flux.</a:t>
            </a:r>
          </a:p>
          <a:p>
            <a:pPr>
              <a:defRPr sz="2000"/>
            </a:pPr>
            <a:r>
              <a:t>Apparent pathway changes can be driven by cell composition (adipocyte vs SVF/immune/endothelial).</a:t>
            </a:r>
          </a:p>
          <a:p>
            <a:pPr>
              <a:defRPr sz="2000"/>
            </a:pPr>
            <a:r>
              <a:t>So: interpret glycolysis at (1) gene nodes and (2) cell-compartment level, not only bulk gene-set scores.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context (high-level, relevant to this hypothesis)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>
              <a:defRPr sz="2000"/>
            </a:pPr>
            <a:r>
              <a:t>Menopause/estrogen decline is linked to changes in fat distribution and cardiometabolic risk (review literature).</a:t>
            </a:r>
          </a:p>
          <a:p>
            <a:pPr>
              <a:defRPr sz="2000"/>
            </a:pPr>
            <a:r>
              <a:t>Estrogen signaling is broadly connected to mitochondrial function/oxidative metabolism in metabolic tissues (review literature).</a:t>
            </a:r>
          </a:p>
          <a:p>
            <a:pPr>
              <a:defRPr sz="2000"/>
            </a:pPr>
            <a:r>
              <a:t>Adipose aging/remodeling is commonly associated with inflammation, fibrosis, and altered metabolic programs (adipose aging reviews).</a:t>
            </a:r>
          </a:p>
          <a:p>
            <a:pPr>
              <a:defRPr sz="2000"/>
            </a:pPr>
            <a:r>
              <a:t>Immunometabolism: inflammatory activation can increase reliance on glycolysis in immune cells (Nat Rev Immunol review literature).</a:t>
            </a:r>
          </a:p>
          <a:p>
            <a:pPr>
              <a:defRPr sz="2000"/>
            </a:pPr>
            <a:r>
              <a:t>Adipose hypoxia/HIF-1alpha programs can promote glycolysis and fibrosis in obesity/remodeling contexts (review literature).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context (SNS/adrenergic signaling and interpretation)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>
              <a:defRPr sz="2000"/>
            </a:pPr>
            <a:r>
              <a:t>SNS drives lipolysis via beta-adrenergic receptors → cAMP/PKA → phosphorylation-driven activation (minutes), not transcription alone.</a:t>
            </a:r>
          </a:p>
          <a:p>
            <a:pPr>
              <a:defRPr sz="2000"/>
            </a:pPr>
            <a:r>
              <a:t>Chronic catecholamine exposure can cause adrenergic receptor desensitization/downregulation (catecholamine resistance concept).</a:t>
            </a:r>
          </a:p>
          <a:p>
            <a:pPr>
              <a:defRPr sz="2000"/>
            </a:pPr>
            <a:r>
              <a:t>Therefore baseline bulk mRNA can reflect chronic adaptation and/or composition shifts rather than acute functional flux.</a:t>
            </a:r>
          </a:p>
          <a:p>
            <a:pPr>
              <a:defRPr sz="2000"/>
            </a:pPr>
            <a:r>
              <a:t>Our GTEx readout is baseline; acute immediate-early gene signatures are expected to be weak at baseline.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hypothesis: menopause → adrenergic remodeling + remodeling of tissue composition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46109"/>
            <a:ext cx="8046720" cy="777240"/>
          </a:xfrm>
          <a:prstGeom prst="roundRect">
            <a:avLst/>
          </a:prstGeom>
          <a:solidFill>
            <a:srgbClr val="F0F8FF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600"/>
            </a:pPr>
            <a:r>
              <a:t>Menopause / estrogen decline (+ aging)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87941"/>
            <a:ext cx="8046720" cy="777240"/>
          </a:xfrm>
          <a:prstGeom prst="roundRect">
            <a:avLst/>
          </a:prstGeom>
          <a:solidFill>
            <a:srgbClr val="F0F8FF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600"/>
            </a:pPr>
            <a:r>
              <a:t>Chronic SNS tone changes + adrenergic remodeling</a:t>
            </a:r>
          </a:p>
          <a:p>
            <a:r>
              <a:t>(catecholamine resistance / desensitization modules)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129773"/>
            <a:ext cx="8046720" cy="777240"/>
          </a:xfrm>
          <a:prstGeom prst="roundRect">
            <a:avLst/>
          </a:prstGeom>
          <a:solidFill>
            <a:srgbClr val="FFFAF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600"/>
            </a:pPr>
            <a:r>
              <a:t>Tissue remodeling in adipose</a:t>
            </a:r>
          </a:p>
          <a:p>
            <a:r>
              <a:t>(cell composition shifts in bulk: adipocyte ↓; SVF/immune/endothelial/fibro ↑)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071605"/>
            <a:ext cx="8046720" cy="777240"/>
          </a:xfrm>
          <a:prstGeom prst="roundRect">
            <a:avLst/>
          </a:prstGeom>
          <a:solidFill>
            <a:srgbClr val="F5FFFA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600"/>
            </a:pPr>
            <a:r>
              <a:t>Observed bulk transcript patterns (GTEx baseline)</a:t>
            </a:r>
          </a:p>
          <a:p>
            <a:r>
              <a:t>OXPHOS ↓; inflammatory response ↑; adipogenesis ↓; glycolysis mixed/flat overall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.0" y="2023349"/>
            <a:ext cx="0.0" cy="164592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.0" y="2965181"/>
            <a:ext cx="0.0" cy="164592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.0" y="3907013"/>
            <a:ext cx="0.0" cy="164592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+ scoring used for this quick glycolysis check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>
              <a:defRPr sz="2000"/>
            </a:pPr>
            <a:r>
              <a:t>GTEx v10 adipose bulk RNA-seq (subcutaneous vs visceral), baseline tissue.</a:t>
            </a:r>
          </a:p>
          <a:p>
            <a:pPr>
              <a:defRPr sz="2000"/>
            </a:pPr>
            <a:r>
              <a:t>Scores computed like the rest of this repo: VST per depot; per-gene z within (depot+sex); gene-set score = mean(z).</a:t>
            </a:r>
          </a:p>
          <a:p>
            <a:pPr>
              <a:defRPr sz="2000"/>
            </a:pPr>
            <a:r>
              <a:t>Female menopause-proxy bins (age midpoint): pre &lt;45, peri 45–55, post &gt;55.</a:t>
            </a:r>
          </a:p>
          <a:p>
            <a:pPr>
              <a:defRPr sz="2000"/>
            </a:pPr>
            <a:r>
              <a:t>Linear models adjusted for sequencing center (SMCENTER); sensitivity with CIBERSORT fraction covariates.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Result: Hallmark Glycolysis is not robustly shifted (bulk, baseline)</a:t>
            </a:r>
          </a:p>
        </p:txBody>
      </p:sp>
      <p:pic>
        <p:nvPicPr>
          <p:cNvPr id="3" name="Picture 2" descr="female_menopause_groups_hallmarks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51072"/>
            <a:ext cx="3931920" cy="2321705"/>
          </a:xfrm>
          <a:prstGeom prst="rect">
            <a:avLst/>
          </a:prstGeom>
        </p:spPr>
      </p:pic>
      <p:pic>
        <p:nvPicPr>
          <p:cNvPr id="4" name="Picture 3" descr="female_menopause_groups_hallmarks_boxplots_visc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51072"/>
            <a:ext cx="3931920" cy="23217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summary (female pre/peri/post; SMCENTER-adjusted; effect sizes are z-score units)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00389"/>
          <a:ext cx="8138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632"/>
                <a:gridCol w="1627632"/>
                <a:gridCol w="1627632"/>
                <a:gridCol w="1627632"/>
                <a:gridCol w="1627632"/>
              </a:tblGrid>
              <a:tr h="585216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Gene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Subq base</a:t>
                      </a:r>
                    </a:p>
                    <a:p>
                      <a:r>
                        <a:t>post-pre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Subq +CIBERSORT</a:t>
                      </a:r>
                    </a:p>
                    <a:p>
                      <a:r>
                        <a:t>post-pre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Visc base</a:t>
                      </a:r>
                    </a:p>
                    <a:p>
                      <a:r>
                        <a:t>post-pre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Visc +CIBERSORT</a:t>
                      </a:r>
                    </a:p>
                    <a:p>
                      <a:r>
                        <a:t>post-pre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GLYCOLYSIS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-0.038; p=0.3243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+0.005; p=0.8922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-0.045; p=0.3501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-0.030; p=0.4693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OXIDATIVE_PHOSPHORYLATION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-0.287; p=0.0033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-0.180; p=0.0513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-0.103; p=0.4011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-0.020; p=0.8434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INFLAMMATORY_RESPONSE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+0.120; p=0.0397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+0.168; p=0.0029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-0.002; p=0.9789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+0.009; p=0.8866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ADIPOGENESIS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-0.274; p=7.7e-04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-0.180; p=0.0156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-0.076; p=0.4056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-0.017; p=0.8136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411980"/>
            <a:ext cx="8138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/>
            </a:pPr>
            <a:r>
              <a:t>Key readout: Glycolysis is not significant in these models; OXPHOS/adipogenesis/inflammation show clearer subcutaneous shifts.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Context: trajectories by sex across age bins (hallmarks panel)</a:t>
            </a:r>
          </a:p>
        </p:txBody>
      </p:sp>
      <p:pic>
        <p:nvPicPr>
          <p:cNvPr id="3" name="Picture 2" descr="sex_agebin_trajectories_hall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14050"/>
            <a:ext cx="3931920" cy="3395749"/>
          </a:xfrm>
          <a:prstGeom prst="rect">
            <a:avLst/>
          </a:prstGeom>
        </p:spPr>
      </p:pic>
      <p:pic>
        <p:nvPicPr>
          <p:cNvPr id="4" name="Picture 3" descr="sex_agebin_trajectories_hallmarks_visc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14050"/>
            <a:ext cx="3931920" cy="33957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Interpretation: glycolysis looks flat, but other programs shift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t>In the same run (female, subcutaneous): OXPHOS down (post vs pre), adipogenesis down, inflammatory response up.</a:t>
            </a:r>
          </a:p>
          <a:p>
            <a:pPr>
              <a:defRPr sz="2200"/>
            </a:pPr>
            <a:r>
              <a:t>These effects are partly sensitive to composition adjustment, consistent with remodeling in bulk.</a:t>
            </a:r>
          </a:p>
          <a:p>
            <a:pPr>
              <a:defRPr sz="2200"/>
            </a:pPr>
            <a:r>
              <a:t>A ‘glycolysis discrepancy’ may therefore be gene-node-specific and/or cell-compartment-specific, not a large bulk hallmark shift.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composition (first pass): CIBERSORT fractions vary with age/sex</a:t>
            </a:r>
          </a:p>
        </p:txBody>
      </p:sp>
      <p:pic>
        <p:nvPicPr>
          <p:cNvPr id="3" name="Picture 2" descr="cibersort_subcutaneous_perm0_topN50_minCells200__fractions_mean_by_sex_age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51362"/>
            <a:ext cx="3931920" cy="1321125"/>
          </a:xfrm>
          <a:prstGeom prst="rect">
            <a:avLst/>
          </a:prstGeom>
        </p:spPr>
      </p:pic>
      <p:pic>
        <p:nvPicPr>
          <p:cNvPr id="4" name="Picture 3" descr="cibersort_visceral_perm0_topN50_minCells200__fractions_mean_by_sex_ageb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351362"/>
            <a:ext cx="3931920" cy="13211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Hypotheses to reconcile ‘glycolysis discrepancies’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>
              <a:defRPr sz="2000"/>
            </a:pPr>
            <a:r>
              <a:t>H1 (mixture): gene-level glycolysis shifts reflect SVF/immune/endothelial composition changes more than adipocyte intrinsic rewiring.</a:t>
            </a:r>
          </a:p>
          <a:p>
            <a:pPr>
              <a:defRPr sz="2000"/>
            </a:pPr>
            <a:r>
              <a:t>H2 (compartment): adipocyte glycolysis may change at key nodes (e.g., GLUT4/SLC2A4) without a strong bulk hallmark shift.</a:t>
            </a:r>
          </a:p>
          <a:p>
            <a:pPr>
              <a:defRPr sz="2000"/>
            </a:pPr>
            <a:r>
              <a:t>H3 (remodeling): menopause-linked adrenergic remodeling/catecholamine resistance alters substrate use and mitochondrial programs (OXPHOS down), with secondary glycolysis effects.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Concrete predictions (computational + experimental)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>
              <a:defRPr sz="2000"/>
            </a:pPr>
            <a:r>
              <a:t>If H1: glycolysis score correlates with macrophage/endothelial/ASPC fractions; group effects shrink after fraction adjustment.</a:t>
            </a:r>
          </a:p>
          <a:p>
            <a:pPr>
              <a:defRPr sz="2000"/>
            </a:pPr>
            <a:r>
              <a:t>If H2: adipocyte-enriched nodes (SLC2A4, IRS1/AKT axis) show clearer group effects than generic glycolysis enzymes.</a:t>
            </a:r>
          </a:p>
          <a:p>
            <a:pPr>
              <a:defRPr sz="2000"/>
            </a:pPr>
            <a:r>
              <a:t>If H3: OXPHOS down + inflammation up is reproducible; adrenergic responsiveness assays show desensitization (cAMP/glycerol release).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computational work (low lift, highest ROI)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>
              <a:defRPr sz="2000"/>
            </a:pPr>
            <a:r>
              <a:t>Gene-node analysis: SLC2A4/SLC2A1, HK2, PFKM/PFKP, PKM, LDHA, SLC16A1/SLC16A3 by depot/sex/age.</a:t>
            </a:r>
          </a:p>
          <a:p>
            <a:pPr>
              <a:defRPr sz="2000"/>
            </a:pPr>
            <a:r>
              <a:t>Modeling: repeat ~ SMCENTER + group, then + CIBERSORT subset; test glycolysis-vs-fraction correlations.</a:t>
            </a:r>
          </a:p>
          <a:p>
            <a:pPr>
              <a:defRPr sz="2000"/>
            </a:pPr>
            <a:r>
              <a:t>If needed: move from ‘fractions as covariates’ to higher-resolution deconvolution (CIBERSORTx HiRes) with a stronger adipose atlas reference.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 experimental validations (one clean figure)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>
              <a:defRPr sz="2000"/>
            </a:pPr>
            <a:r>
              <a:t>Separate adipocytes vs SVF when possible (or quantify composition markers).</a:t>
            </a:r>
          </a:p>
          <a:p>
            <a:pPr>
              <a:defRPr sz="2000"/>
            </a:pPr>
            <a:r>
              <a:t>Assays: glucose uptake (basal + insulin), lactate secretion, Seahorse ECAR/OCR.</a:t>
            </a:r>
          </a:p>
          <a:p>
            <a:pPr>
              <a:defRPr sz="2000"/>
            </a:pPr>
            <a:r>
              <a:t>Adrenergic responsiveness: isoproterenol-stimulated cAMP + glycerol release; ADRB2/ADRB3 protein if feasible.</a:t>
            </a:r>
          </a:p>
          <a:p>
            <a:pPr>
              <a:defRPr sz="2000"/>
            </a:pPr>
            <a:r>
              <a:t>qPCR/Western panel: SLC2A4, HK2, LDHA + inflammation markers + mitochondrial/OXPHOS markers.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Selected literature (for framing; not exhaustive)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>
              <a:defRPr sz="1600"/>
            </a:pPr>
            <a:r>
              <a:t>Karpe F, Pinnick KE. Nat Rev Endocrinol (2015) upper vs lower body adipose review.</a:t>
            </a:r>
          </a:p>
          <a:p>
            <a:pPr>
              <a:defRPr sz="1600"/>
            </a:pPr>
            <a:r>
              <a:t>Mauvais-Jarvis F. Biol Sex Differ (2015) sex differences in metabolic homeostasis review.</a:t>
            </a:r>
          </a:p>
          <a:p>
            <a:pPr>
              <a:defRPr sz="1600"/>
            </a:pPr>
            <a:r>
              <a:t>Palmer AK, Kirkland JL. Exp Gerontol (2016) adipose aging review.</a:t>
            </a:r>
          </a:p>
          <a:p>
            <a:pPr>
              <a:defRPr sz="1600"/>
            </a:pPr>
            <a:r>
              <a:t>O’Neill LAJ et al. Nat Rev Immunol (2016) immunometabolism review (glycolysis in inflammatory activation).</a:t>
            </a:r>
          </a:p>
          <a:p>
            <a:pPr>
              <a:defRPr sz="1600"/>
            </a:pPr>
            <a:r>
              <a:t>Adipose hypoxia / HIF-1alpha → inflammation/fibrosis/glycolysis programs (review literature).</a:t>
            </a:r>
          </a:p>
          <a:p>
            <a:pPr>
              <a:defRPr sz="1600"/>
            </a:pPr>
            <a:r>
              <a:t>Adrenergic receptor desensitization/catecholamine resistance concepts in adipose (review literature).</a:t>
            </a:r>
          </a:p>
          <a:p>
            <a:pPr>
              <a:defRPr sz="1600"/>
            </a:pPr>
            <a:r>
              <a:t>Project-specific: GTEx v10 baseline bulk; fraction adjustment/deconvolution needed for glycolysis interpretation.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glycolysis/transport nodes to prioritize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t>Transport: SLC2A4 (GLUT4), SLC2A1 (GLUT1)</a:t>
            </a:r>
          </a:p>
          <a:p>
            <a:pPr>
              <a:defRPr sz="2200"/>
            </a:pPr>
            <a:r>
              <a:t>Core enzymes: HK2, PFKM/PFKP, ALDOA, GAPDH, ENO1, PKM, LDHA</a:t>
            </a:r>
          </a:p>
          <a:p>
            <a:pPr>
              <a:defRPr sz="2200"/>
            </a:pPr>
            <a:r>
              <a:t>Lactate transport: SLC16A1 (MCT1), SLC16A3 (MCT4)</a:t>
            </a:r>
          </a:p>
          <a:p>
            <a:pPr>
              <a:defRPr sz="2200"/>
            </a:pPr>
            <a:r>
              <a:t>Insulin axis context: IRS1, AKT2 (if needed)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2187</Words>
  <Application>Microsoft Office PowerPoint</Application>
  <PresentationFormat>On-screen Show (16:9)</PresentationFormat>
  <Paragraphs>126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Courier</vt:lpstr>
      <vt:lpstr>Arial</vt:lpstr>
      <vt:lpstr>Calibri</vt:lpstr>
      <vt:lpstr>Office Theme</vt:lpstr>
      <vt:lpstr>Menopause proxy + SNS/lipolysis in human adipose (GTEx v10)</vt:lpstr>
      <vt:lpstr>Goal + constraints</vt:lpstr>
      <vt:lpstr>Data + cohorts (what “pre / peri / post” mean here)</vt:lpstr>
      <vt:lpstr>GTEx “batch” reality: sequencing center and batches are major covariates</vt:lpstr>
      <vt:lpstr>Why we don’t just “ComBat everything”: batch adjustment changes conclusions</vt:lpstr>
      <vt:lpstr>How gene-set “z-scores” were computed (for Slides 4–6)</vt:lpstr>
      <vt:lpstr>Kenichi panel — subcutaneous baseline gene-set activity</vt:lpstr>
      <vt:lpstr>Kenichi panel — visceral baseline gene-set activity</vt:lpstr>
      <vt:lpstr>Confounding sensitivity analyses (what Slides 10–12 show)</vt:lpstr>
      <vt:lpstr>Technical confounding sensitivity (RIN / ischemic time / Hardy / batch)</vt:lpstr>
      <vt:lpstr>Bulk adipose composition proxies shift with menopause proxy</vt:lpstr>
      <vt:lpstr>Subcutaneous: composition adjustment explains “lipolysis_core down”</vt:lpstr>
      <vt:lpstr>Quick summary (confounding + composition): interpretation</vt:lpstr>
      <vt:lpstr>Subcutaneous: key table (post vs pre) — base vs composition-adjusted</vt:lpstr>
      <vt:lpstr>Male vs female context (Kenichi caveat) — trajectories across age bins</vt:lpstr>
      <vt:lpstr>Male vs female context — sex×age interaction (score-level)</vt:lpstr>
      <vt:lpstr>Adrenergic/cAMP/desensitization modules (subcutaneous)</vt:lpstr>
      <vt:lpstr>Adrenergic/cAMP/desensitization modules (visceral)</vt:lpstr>
      <vt:lpstr>Menopause signature: senMayoLike v2 (curated, evidence-backed)</vt:lpstr>
      <vt:lpstr>senMayoLike v2 score in GTEx (subcutaneous + visceral)</vt:lpstr>
      <vt:lpstr>External context (not menopause-status): GSE44000 subcutaneous adipocytes</vt:lpstr>
      <vt:lpstr>Summary (what we can claim)</vt:lpstr>
      <vt:lpstr>Files to share with collaborators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Junguk Hur</dc:creator>
  <cp:keywords/>
  <cp:lastModifiedBy>Hur, Junguk</cp:lastModifiedBy>
  <cp:revision>7</cp:revision>
  <dcterms:created xsi:type="dcterms:W3CDTF">2026-02-02T05:20:11Z</dcterms:created>
  <dcterms:modified xsi:type="dcterms:W3CDTF">2026-02-02T15:41:42Z</dcterms:modified>
</cp:coreProperties>
</file>