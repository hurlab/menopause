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Menopause proxy + SNS/lipolysis in human adipose (GTEx v10)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technical + composition confounding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Junguk Hur — 2026-02-01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Collaborator goal (Kenichi)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add </a:t>
            </a:r>
            <a:r>
              <a:rPr i="1"/>
              <a:t>human adipose</a:t>
            </a:r>
            <a:r>
              <a:rPr/>
              <a:t> transcriptomic evidence consistent with adrenergic/lipolysis differences in postmenopause.</a:t>
            </a:r>
          </a:p>
          <a:p>
            <a:pPr lvl="0"/>
            <a:r>
              <a:rPr/>
              <a:t>Constraints:</a:t>
            </a:r>
          </a:p>
          <a:p>
            <a:pPr lvl="1"/>
            <a:r>
              <a:rPr/>
              <a:t>GTEx is baseline/unstimulated tissue → acute SNS transcripts may be weak.</a:t>
            </a:r>
          </a:p>
          <a:p>
            <a:pPr lvl="1"/>
            <a:r>
              <a:rPr/>
              <a:t>Chronic SNS can yield catecholamine resistance → directionality not straightforward.</a:t>
            </a:r>
          </a:p>
          <a:p>
            <a:pPr lvl="1"/>
            <a:r>
              <a:rPr/>
              <a:t>Bulk adipose is mixed cell types → composition can dominate signals.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+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GTEx v10: Adipose Subcutaneous + Visceral (Omentum), women-only.</a:t>
            </a:r>
          </a:p>
          <a:p>
            <a:pPr lvl="0"/>
            <a:r>
              <a:rPr/>
              <a:t>Menopause proxy (age-bin midpoint): pre &lt;45, peri 45–55, post &gt;55.</a:t>
            </a:r>
          </a:p>
          <a:p>
            <a:pPr lvl="0"/>
            <a:r>
              <a:rPr/>
              <a:t>Key outputs summarized in: </a:t>
            </a:r>
            <a:r>
              <a:rPr>
                <a:latin typeface="Courier"/>
              </a:rPr>
              <a:t>docs/master_summary_menopause_sns_gtex_2026-02-01.md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Kenichi panel — subcutaneous baseline gene-set activity</a:t>
            </a:r>
          </a:p>
        </p:txBody>
      </p:sp>
      <p:pic>
        <p:nvPicPr>
          <p:cNvPr descr="GTEx_v10_AT_analysis_out/figs/kenichi_sns_panel/figure_candidate__lipolysis_thermogene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7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Kenichi panel — visceral baseline gene-set activity</a:t>
            </a:r>
          </a:p>
        </p:txBody>
      </p:sp>
      <p:pic>
        <p:nvPicPr>
          <p:cNvPr descr="GTEx_v10_AT_analysis_out/figs/kenichi_sns_panel/figure_candidate__lipolysis_thermogenesis_visc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7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confounding sensitivity (RIN / ischemic time / Hardy / batch)</a:t>
            </a:r>
          </a:p>
        </p:txBody>
      </p:sp>
      <p:pic>
        <p:nvPicPr>
          <p:cNvPr descr="GTEx_v10_AT_analysis_out/figs/next_steps_2026-02-01_covariate_sensitivity/gene_set_covariate_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Bulk adipose composition proxies shift with menopause proxy</a:t>
            </a:r>
          </a:p>
        </p:txBody>
      </p:sp>
      <p:pic>
        <p:nvPicPr>
          <p:cNvPr descr="GTEx_v10_AT_analysis_out/figs/next_steps_2026-02-01_composition/marker_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Subcutaneous: composition adjustment explains “lipolysis_core down”</a:t>
            </a:r>
          </a:p>
        </p:txBody>
      </p:sp>
      <p:pic>
        <p:nvPicPr>
          <p:cNvPr descr="GTEx_v10_AT_analysis_out/figs/next_steps_2026-02-01_composition/kenichi_gene_set_effects_with_composition_adjust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Subcutaneous: key table (post vs pre) — base vs composition-adjusted</a:t>
            </a:r>
          </a:p>
        </p:txBody>
      </p:sp>
      <p:pic>
        <p:nvPicPr>
          <p:cNvPr descr="GTEx_v10_AT_analysis_out/figs/ppt_tables_2026-02-01/table_subq_kenichi_sets_composition_adjust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Adrenergic/cAMP/desensitization modules (subcutaneous)</a:t>
            </a:r>
          </a:p>
        </p:txBody>
      </p:sp>
      <p:pic>
        <p:nvPicPr>
          <p:cNvPr descr="GTEx_v10_AT_analysis_out/figs/next_steps_2026-02-01_adrenergic_modules/adrenergic_module_effect_sensitivity_post_vs_p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Adrenergic/cAMP/desensitization modules (visceral)</a:t>
            </a:r>
          </a:p>
        </p:txBody>
      </p:sp>
      <p:pic>
        <p:nvPicPr>
          <p:cNvPr descr="GTEx_v10_AT_analysis_out/figs/next_steps_2026-02-01_adrenergic_modules/adrenergic_module_effect_sensitivity_post_vs_pre_visc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Menopause signature: senMayoLike v2 (curated, evidence-backed)</a:t>
            </a:r>
          </a:p>
        </p:txBody>
      </p:sp>
      <p:pic>
        <p:nvPicPr>
          <p:cNvPr descr="GTEx_v10_AT_analysis_out/figs/ppt_tables_2026-02-01/table_senMayoLike_v2_gene_l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senMayoLike v2 score in GTEx (subcutaneous + visceral)</a:t>
            </a:r>
          </a:p>
        </p:txBody>
      </p:sp>
      <p:pic>
        <p:nvPicPr>
          <p:cNvPr descr="GTEx_v10_AT_analysis_out/figs/next_steps_2026-02-01_signature_refinement/senMayoLike_v2_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External context (not menopause-status): GSE44000 adipocytes (postmeno only)</a:t>
            </a:r>
          </a:p>
        </p:txBody>
      </p:sp>
      <p:pic>
        <p:nvPicPr>
          <p:cNvPr descr="GTEx_v10_AT_analysis_out/figs/external_validation_GSE44000/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manuscript framing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Baseline GTEx adipose does not show strong acute SNS immediate-early activation across menopause proxy groups.</a:t>
            </a:r>
          </a:p>
          <a:p>
            <a:pPr lvl="0"/>
            <a:r>
              <a:rPr/>
              <a:t>Bulk subcutaneous “lipolysis program down” is largely explained by adipocyte-content/composition proxies.</a:t>
            </a:r>
          </a:p>
          <a:p>
            <a:pPr lvl="0"/>
            <a:r>
              <a:rPr/>
              <a:t>Patterns are compatible with chronic remodeling / altered adrenergic-cAMP responsiveness (possible catecholamine resistance).</a:t>
            </a:r>
          </a:p>
          <a:p>
            <a:pPr lvl="0"/>
            <a:r>
              <a:rPr/>
              <a:t>senMayoLike v2 menopause signature separates menopause proxy groups (stronger in subcutaneous).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rPr/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  <a:p>
            <a:pPr lvl="0"/>
            <a:r>
              <a:rPr/>
              <a:t>senMayoLike v2 signature + evidence:</a:t>
            </a:r>
          </a:p>
          <a:p>
            <a:pPr lvl="1"/>
            <a:r>
              <a:rPr>
                <a:latin typeface="Courier"/>
              </a:rPr>
              <a:t>references/menopause_signature_senMayoLike_v2.tsv</a:t>
            </a:r>
          </a:p>
          <a:p>
            <a:pPr lvl="1"/>
            <a:r>
              <a:rPr>
                <a:latin typeface="Courier"/>
              </a:rPr>
              <a:t>references/menopause_signature_senMayoLike_v2_evidence.tsv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2026-02-01T16:00:57Z</dcterms:created>
  <dcterms:modified xsi:type="dcterms:W3CDTF">2026-02-01T16:00:57Z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