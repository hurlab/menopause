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2" Type="http://schemas.openxmlformats.org/officeDocument/2006/relationships/viewProps" Target="viewProps.xml" /><Relationship Id="rId2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4" Type="http://schemas.openxmlformats.org/officeDocument/2006/relationships/tableStyles" Target="tableStyles.xml" /><Relationship Id="rId2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0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Menopause proxy + SNS/lipolysis in human adipose (GTEx v10)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With technical + composition confounding addressed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Junguk Hur — 2026-02-02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Collaborator goal (Kenichi) +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Goal: add </a:t>
            </a:r>
            <a:r>
              <a:rPr i="1"/>
              <a:t>human adipose</a:t>
            </a:r>
            <a:r>
              <a:rPr/>
              <a:t> transcriptomic evidence consistent with adrenergic/lipolysis differences in postmenopause.</a:t>
            </a:r>
          </a:p>
          <a:p>
            <a:pPr lvl="0"/>
            <a:r>
              <a:rPr/>
              <a:t>Constraints:</a:t>
            </a:r>
          </a:p>
          <a:p>
            <a:pPr lvl="1"/>
            <a:r>
              <a:rPr/>
              <a:t>GTEx is baseline/unstimulated tissue → acute SNS transcripts may be weak.</a:t>
            </a:r>
          </a:p>
          <a:p>
            <a:pPr lvl="1"/>
            <a:r>
              <a:rPr/>
              <a:t>Chronic SNS can yield catecholamine resistance → directionality not straightforward.</a:t>
            </a:r>
          </a:p>
          <a:p>
            <a:pPr lvl="1"/>
            <a:r>
              <a:rPr/>
              <a:t>Bulk adipose is mixed cell types → composition can dominate signals.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+ cohorts (what “pre / peri / post” mean here)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Dataset: </a:t>
            </a:r>
            <a:r>
              <a:rPr b="1"/>
              <a:t>GTEx v10</a:t>
            </a:r>
            <a:r>
              <a:rPr/>
              <a:t> bulk adipose RNA-seq (counts), analyzed separately by depot.</a:t>
            </a:r>
          </a:p>
          <a:p>
            <a:pPr lvl="0"/>
            <a:r>
              <a:rPr/>
              <a:t>Women-only samples:</a:t>
            </a:r>
          </a:p>
          <a:p>
            <a:pPr lvl="1"/>
            <a:r>
              <a:rPr/>
              <a:t>Subcutaneous: n=233</a:t>
            </a:r>
          </a:p>
          <a:p>
            <a:pPr lvl="1"/>
            <a:r>
              <a:rPr/>
              <a:t>Visceral (omentum): n=180</a:t>
            </a:r>
          </a:p>
          <a:p>
            <a:pPr lvl="0"/>
            <a:r>
              <a:rPr/>
              <a:t>Menopause proxy by </a:t>
            </a:r>
            <a:r>
              <a:rPr b="1"/>
              <a:t>age-bin midpoint</a:t>
            </a:r>
            <a:r>
              <a:rPr/>
              <a:t> (GTEx provides age bins, not true menopause status):</a:t>
            </a:r>
          </a:p>
          <a:p>
            <a:pPr lvl="1"/>
            <a:r>
              <a:rPr b="1"/>
              <a:t>pre</a:t>
            </a:r>
            <a:r>
              <a:rPr/>
              <a:t>: age_mid &lt; 45</a:t>
            </a:r>
          </a:p>
          <a:p>
            <a:pPr lvl="1"/>
            <a:r>
              <a:rPr b="1"/>
              <a:t>peri</a:t>
            </a:r>
            <a:r>
              <a:rPr/>
              <a:t>: 45 ≤ age_mid ≤ 55</a:t>
            </a:r>
          </a:p>
          <a:p>
            <a:pPr lvl="1"/>
            <a:r>
              <a:rPr b="1"/>
              <a:t>post</a:t>
            </a:r>
            <a:r>
              <a:rPr/>
              <a:t>: age_mid &gt; 55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gene-set “z-scores” were computed (for Slides 4–6)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each depot (women-only), using VST-normalized expression: - Step 1: DESeq2 VST on counts (blind). - Step 2: map Ensembl → gene symbols; collapse duplicates by mean. - Step 3: for each gene in a gene set, compute per-sample z-score across samples: - z(gene, sample) = (expr − mean_over_samples) / sd_over_samples - Step 4: gene-set score per sample = mean of z(gene, sample) across genes in the set.</a:t>
            </a:r>
          </a:p>
          <a:p>
            <a:pPr lvl="0" indent="0" marL="0">
              <a:buNone/>
            </a:pPr>
            <a:r>
              <a:rPr/>
              <a:t>Interpretation: a higher score means </a:t>
            </a:r>
            <a:r>
              <a:rPr b="1"/>
              <a:t>higher relative expression of the genes in that set</a:t>
            </a:r>
            <a:r>
              <a:rPr/>
              <a:t> </a:t>
            </a:r>
            <a:r>
              <a:rPr i="1"/>
              <a:t>within that depot’s cohort</a:t>
            </a:r>
            <a:r>
              <a:rPr/>
              <a:t> (not an absolute activity measurement).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Kenichi panel — subcutaneous baseline gene-set activity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Conclusion (SMCENTER-adjusted):</a:t>
            </a:r>
            <a:r>
              <a:rPr/>
              <a:t> - Acute SNS immediate-early set: not robust at baseline - Lipolysis and thermogenesis programs: lower in peri/post vs pre (bulk signal; see composition adjustment later)</a:t>
            </a:r>
          </a:p>
        </p:txBody>
      </p:sp>
      <p:pic>
        <p:nvPicPr>
          <p:cNvPr descr="GTEx_v10_AT_analysis_out/figs/kenichi_sns_panel/figure_candidate__lipolysis_thermogenesi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203700" y="203200"/>
            <a:ext cx="38481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Kenichi panel — visceral baseline gene-set activity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Conclusion (SMCENTER-adjusted):</a:t>
            </a:r>
            <a:r>
              <a:rPr/>
              <a:t> - Acute SNS immediate-early set: not robust at baseline - Thermogenesis program: lower in peri/post vs pre - Lipolysis core: not robust in this depot</a:t>
            </a:r>
          </a:p>
        </p:txBody>
      </p:sp>
      <p:pic>
        <p:nvPicPr>
          <p:cNvPr descr="GTEx_v10_AT_analysis_out/figs/kenichi_sns_panel/figure_candidate__lipolysis_thermogenesis_viscer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203700" y="203200"/>
            <a:ext cx="38481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Technical confounding sensitivity (RIN / ischemic time / Hardy / batch)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Purpose:</a:t>
            </a:r>
            <a:r>
              <a:rPr/>
              <a:t> test whether menopause-proxy effects are stable when adding GTEx technical covariates.</a:t>
            </a:r>
          </a:p>
        </p:txBody>
      </p:sp>
      <p:pic>
        <p:nvPicPr>
          <p:cNvPr descr="GTEx_v10_AT_analysis_out/figs/next_steps_2026-02-01_covariate_sensitivity/gene_set_covariate_sensitivi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Bulk adipose composition proxies shift with menopause proxy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point:</a:t>
            </a:r>
            <a:r>
              <a:rPr/>
              <a:t> adipocyte-content proxy decreases in peri/post vs pre in subcutaneous bulk tissue.</a:t>
            </a:r>
          </a:p>
        </p:txBody>
      </p:sp>
      <p:pic>
        <p:nvPicPr>
          <p:cNvPr descr="GTEx_v10_AT_analysis_out/figs/next_steps_2026-02-01_composition/marker_scores_by_grou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Subcutaneous: composition adjustment explains “lipolysis_core down”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point:</a:t>
            </a:r>
            <a:r>
              <a:rPr/>
              <a:t> the subcutaneous lipolysis_core “down” signal is strongly composition-sensitive.</a:t>
            </a:r>
          </a:p>
        </p:txBody>
      </p:sp>
      <p:pic>
        <p:nvPicPr>
          <p:cNvPr descr="GTEx_v10_AT_analysis_out/figs/next_steps_2026-02-01_composition/kenichi_gene_set_effects_with_composition_adjustmen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33500"/>
            <a:ext cx="5105400" cy="213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Subcutaneous: key table (post vs pre) — base vs composition-adjusted</a:t>
            </a:r>
          </a:p>
        </p:txBody>
      </p:sp>
      <p:pic>
        <p:nvPicPr>
          <p:cNvPr descr="GTEx_v10_AT_analysis_out/figs/ppt_tables_2026-02-01/table_subq_kenichi_sets_composition_adjustmen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33500" y="1193800"/>
            <a:ext cx="6477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Quick summary (Slides 6–9): what changes after stress-tests?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Technical covariates (RIN/ischemic/Hardy/batch) can attenuate effects → not all baseline signals are stable.</a:t>
            </a:r>
          </a:p>
          <a:p>
            <a:pPr lvl="0"/>
            <a:r>
              <a:rPr/>
              <a:t>Subcutaneous bulk tissue shows a clear </a:t>
            </a:r>
            <a:r>
              <a:rPr b="1"/>
              <a:t>adipocyte-content proxy decrease</a:t>
            </a:r>
            <a:r>
              <a:rPr/>
              <a:t> in peri/post vs pre.</a:t>
            </a:r>
          </a:p>
          <a:p>
            <a:pPr lvl="0"/>
            <a:r>
              <a:rPr/>
              <a:t>Once we adjust for composition proxies, the subcutaneous </a:t>
            </a:r>
            <a:r>
              <a:rPr b="1"/>
              <a:t>lipolysis_core</a:t>
            </a:r>
            <a:r>
              <a:rPr/>
              <a:t> menopause-proxy difference becomes ~0.</a:t>
            </a:r>
          </a:p>
          <a:p>
            <a:pPr lvl="0"/>
            <a:r>
              <a:rPr/>
              <a:t>Therefore: bulk subcutaneous “lipolysis program down” is likely dominated by </a:t>
            </a:r>
            <a:r>
              <a:rPr b="1"/>
              <a:t>composition/adipocyte fraction</a:t>
            </a:r>
            <a:r>
              <a:rPr/>
              <a:t>, not necessarily per-adipocyte regulation.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Adrenergic/cAMP/desensitization modules (subcutaneous)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Interpretation:</a:t>
            </a:r>
            <a:r>
              <a:rPr/>
              <a:t> more compatible with altered responsiveness/chronic adaptation than acute SNS activation at baseline.</a:t>
            </a:r>
          </a:p>
        </p:txBody>
      </p:sp>
      <p:pic>
        <p:nvPicPr>
          <p:cNvPr descr="GTEx_v10_AT_analysis_out/figs/next_steps_2026-02-01_adrenergic_modules/adrenergic_module_effect_sensitivity_post_vs_p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33500"/>
            <a:ext cx="5105400" cy="213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Adrenergic/cAMP/desensitization modules (visceral)</a:t>
            </a:r>
          </a:p>
        </p:txBody>
      </p:sp>
      <p:pic>
        <p:nvPicPr>
          <p:cNvPr descr="GTEx_v10_AT_analysis_out/figs/next_steps_2026-02-01_adrenergic_modules/adrenergic_module_effect_sensitivity_post_vs_pre_viscer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8000" y="1193800"/>
            <a:ext cx="8140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Menopause signature: senMayoLike v2 (curated, evidence-backed)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Signature size:</a:t>
            </a:r>
            <a:r>
              <a:rPr/>
              <a:t> 13 total genes (12 up in post, 1 down in post)</a:t>
            </a:r>
          </a:p>
        </p:txBody>
      </p:sp>
      <p:pic>
        <p:nvPicPr>
          <p:cNvPr descr="GTEx_v10_AT_analysis_out/figs/ppt_tables_2026-02-01/table_senMayoLike_v2_gene_lis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54100"/>
            <a:ext cx="5105400" cy="2679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senMayoLike v2 score in GTEx (subcutaneous + visceral)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 the score is computed (Slide 13):</a:t>
            </a:r>
            <a:r>
              <a:rPr/>
              <a:t> - </a:t>
            </a:r>
            <a:r>
              <a:rPr>
                <a:latin typeface="Courier"/>
              </a:rPr>
              <a:t>z_signed</a:t>
            </a:r>
            <a:r>
              <a:rPr/>
              <a:t> = mean(z of “up” genes) − mean(z of “down” genes), using the same per-gene z-scoring as earlier. - </a:t>
            </a:r>
            <a:r>
              <a:rPr>
                <a:latin typeface="Courier"/>
              </a:rPr>
              <a:t>ssgsea_all</a:t>
            </a:r>
            <a:r>
              <a:rPr/>
              <a:t> = ssGSEA enrichment score (GSVA::ssgsea) using VST expression.</a:t>
            </a:r>
          </a:p>
        </p:txBody>
      </p:sp>
      <p:pic>
        <p:nvPicPr>
          <p:cNvPr descr="GTEx_v10_AT_analysis_out/figs/next_steps_2026-02-01_signature_refinement/senMayoLike_v2_scores_by_grou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External context (not menopause-status): GSE44000 adipocytes (postmeno only)</a:t>
            </a:r>
          </a:p>
        </p:txBody>
      </p:sp>
      <p:pic>
        <p:nvPicPr>
          <p:cNvPr descr="GTEx_v10_AT_analysis_out/figs/external_validation_GSE44000/scores_by_grou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63700" y="1193800"/>
            <a:ext cx="5816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Recommended manuscript framing (what we can claim)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Baseline GTEx adipose does not show strong acute SNS immediate-early activation across menopause proxy groups.</a:t>
            </a:r>
          </a:p>
          <a:p>
            <a:pPr lvl="0"/>
            <a:r>
              <a:rPr/>
              <a:t>Bulk subcutaneous “lipolysis program down” is largely explained by adipocyte-content/composition proxies.</a:t>
            </a:r>
          </a:p>
          <a:p>
            <a:pPr lvl="0"/>
            <a:r>
              <a:rPr/>
              <a:t>Patterns are compatible with chronic remodeling / altered adrenergic-cAMP responsiveness (possible catecholamine resistance).</a:t>
            </a:r>
          </a:p>
          <a:p>
            <a:pPr lvl="0"/>
            <a:r>
              <a:rPr/>
              <a:t>senMayoLike v2 menopause signature separates menopause proxy groups (stronger in subcutaneous).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Files to share with collaborators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Master summary: </a:t>
            </a:r>
            <a:r>
              <a:rPr>
                <a:latin typeface="Courier"/>
              </a:rPr>
              <a:t>docs/master_summary_menopause_sns_gtex_2026-02-01.md</a:t>
            </a:r>
          </a:p>
          <a:p>
            <a:pPr lvl="0"/>
            <a:r>
              <a:rPr/>
              <a:t>senMayoLike v2 (full details + evidence):</a:t>
            </a:r>
          </a:p>
          <a:p>
            <a:pPr lvl="1"/>
            <a:r>
              <a:rPr/>
              <a:t>TSV: </a:t>
            </a:r>
            <a:r>
              <a:rPr>
                <a:latin typeface="Courier"/>
              </a:rPr>
              <a:t>references/menopause_signature_senMayoLike_v2_evidence.tsv</a:t>
            </a:r>
          </a:p>
          <a:p>
            <a:pPr lvl="1"/>
            <a:r>
              <a:rPr/>
              <a:t>CSV: </a:t>
            </a:r>
            <a:r>
              <a:rPr>
                <a:latin typeface="Courier"/>
              </a:rPr>
              <a:t>docs/senMayoLike_v2_signature_details_2026-02-02.csv</a:t>
            </a:r>
          </a:p>
          <a:p>
            <a:pPr lvl="1"/>
            <a:r>
              <a:rPr/>
              <a:t>Excel: </a:t>
            </a:r>
            <a:r>
              <a:rPr>
                <a:latin typeface="Courier"/>
              </a:rPr>
              <a:t>docs/senMayoLike_v2_signature_details_2026-02-02.xlsx</a:t>
            </a:r>
          </a:p>
          <a:p>
            <a:pPr lvl="0"/>
            <a:r>
              <a:rPr/>
              <a:t>Key figures:</a:t>
            </a:r>
          </a:p>
          <a:p>
            <a:pPr lvl="1"/>
            <a:r>
              <a:rPr>
                <a:latin typeface="Courier"/>
              </a:rPr>
              <a:t>GTEx_v10_AT_analysis_out/figs/kenichi_sns_panel/figure_candidate__lipolysis_thermogenesis.png</a:t>
            </a:r>
          </a:p>
          <a:p>
            <a:pPr lvl="1"/>
            <a:r>
              <a:rPr>
                <a:latin typeface="Courier"/>
              </a:rPr>
              <a:t>GTEx_v10_AT_analysis_out/figs/next_steps_2026-02-01_composition/kenichi_gene_set_effects_with_composition_adjustment.png</a:t>
            </a:r>
          </a:p>
          <a:p>
            <a:pPr lvl="1"/>
            <a:r>
              <a:rPr>
                <a:latin typeface="Courier"/>
              </a:rPr>
              <a:t>GTEx_v10_AT_analysis_out/figs/next_steps_2026-02-01_signature_refinement/senMayoLike_v2_scores_by_group.png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2026-02-02T04:52:03Z</dcterms:created>
  <dcterms:modified xsi:type="dcterms:W3CDTF">2026-02-02T04:52:03Z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