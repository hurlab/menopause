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20" Type="http://schemas.openxmlformats.org/officeDocument/2006/relationships/viewProps" Target="viewProps.xml" /><Relationship Id="rId1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2" Type="http://schemas.openxmlformats.org/officeDocument/2006/relationships/tableStyles" Target="tableStyles.xml" /><Relationship Id="rId2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PowerPoint Outline (~15 slides)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Menopause proxy + SNS/lipolysis in human adipose (GTEx v10) — with confounding addressed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Date:</a:t>
            </a:r>
            <a:r>
              <a:rPr/>
              <a:t> 2026-02-01</a:t>
            </a:r>
            <a:br/>
            <a:r>
              <a:rPr b="1"/>
              <a:t>Audience:</a:t>
            </a:r>
            <a:r>
              <a:rPr/>
              <a:t> Kenichi Sakamoto / Christoph Buettner collaboration</a:t>
            </a:r>
            <a:br/>
            <a:r>
              <a:rPr b="1"/>
              <a:t>Primary datasets:</a:t>
            </a:r>
            <a:r>
              <a:rPr/>
              <a:t> GTEx v10 adipose subcutaneous + visceral (omentum); female-only analyses</a:t>
            </a:r>
            <a:br/>
            <a:r>
              <a:rPr b="1"/>
              <a:t>Supporting external context:</a:t>
            </a:r>
            <a:r>
              <a:rPr/>
              <a:t> GSE44000 (postmenopausal purified adipocytes; obese vs lean)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 — Title + one-slide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Title:</a:t>
            </a:r>
            <a:r>
              <a:rPr/>
              <a:t> Menopause proxy and adipose SNS/lipolysis programs in humans (GTEx v10)</a:t>
            </a:r>
            <a:br/>
            <a:r>
              <a:rPr b="1"/>
              <a:t>Subtitle:</a:t>
            </a:r>
            <a:r>
              <a:rPr/>
              <a:t> Subcutaneous + visceral depots; women-only; baseline tissue caveats and confounding addressed</a:t>
            </a:r>
            <a:br/>
            <a:r>
              <a:rPr b="1"/>
              <a:t>Footer:</a:t>
            </a:r>
            <a:r>
              <a:rPr/>
              <a:t> Junguk Hur | 2026-02-01</a:t>
            </a:r>
          </a:p>
          <a:p>
            <a:pPr lvl="0" indent="0" marL="0">
              <a:buNone/>
            </a:pPr>
            <a:r>
              <a:rPr b="1"/>
              <a:t>Takeaway bullets (4):</a:t>
            </a:r>
            <a:r>
              <a:rPr/>
              <a:t> - GTEx baseline adipose does </a:t>
            </a:r>
            <a:r>
              <a:rPr b="1"/>
              <a:t>not</a:t>
            </a:r>
            <a:r>
              <a:rPr/>
              <a:t> show a strong acute SNS immediate-early signature across menopause proxy. - Some “lipolysis program down” signals in bulk subcutaneous are </a:t>
            </a:r>
            <a:r>
              <a:rPr b="1"/>
              <a:t>composition-sensitive</a:t>
            </a:r>
            <a:r>
              <a:rPr/>
              <a:t> (adipocyte content proxies decrease in peri/post). - Subcutaneous shows changes consistent with </a:t>
            </a:r>
            <a:r>
              <a:rPr b="1"/>
              <a:t>altered adrenergic/cAMP machinery</a:t>
            </a:r>
            <a:r>
              <a:rPr/>
              <a:t> (possible chronic adaptation/catecholamine resistance). - Built a </a:t>
            </a:r>
            <a:r>
              <a:rPr b="1"/>
              <a:t>SenMayo-like menopause signature (v2)</a:t>
            </a:r>
            <a:r>
              <a:rPr/>
              <a:t> with gene-by-gene evidence; it separates menopause proxy groups in subcutaneous GTEx.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 — Kenichi’s working hypothesis + what human data can contribute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Title:</a:t>
            </a:r>
            <a:r>
              <a:rPr/>
              <a:t> Hypothesis + needed human support (Kenichi)</a:t>
            </a:r>
          </a:p>
          <a:p>
            <a:pPr lvl="0" indent="0" marL="0">
              <a:buNone/>
            </a:pPr>
            <a:r>
              <a:rPr b="1"/>
              <a:t>Bullets:</a:t>
            </a:r>
            <a:r>
              <a:rPr/>
              <a:t> - Hypothesis: ↓ central estrogen → ↓ D2 signaling → ↑ SNS outflow to adipose → ↑ lipolysis → insulin resistance. - Mouse evidence: OVX ↓ dopamine release; ↑ SNS activity; THKO/AAKO/bromocriptine improve OVX IR. - Human support desired: postmenopause adipose shows transcription consistent with ↑ adrenergic signaling and/or ↑ lipolysis program. - Key caveats: baseline tissue; acute markers may be weak; chronic SNS can lead to catecholamine resistance.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 — Data sources and analysis tracks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Title:</a:t>
            </a:r>
            <a:r>
              <a:rPr/>
              <a:t> Data + analysis tracks</a:t>
            </a:r>
          </a:p>
          <a:p>
            <a:pPr lvl="0" indent="0" marL="0">
              <a:buNone/>
            </a:pPr>
            <a:r>
              <a:rPr b="1"/>
              <a:t>Bullets:</a:t>
            </a:r>
            <a:r>
              <a:rPr/>
              <a:t> - GTEx v10 inputs: subcutaneous + visceral (omentum) count matrices + metadata. - Women-only analyses; depot-specific. - Two tracks: 1) Targeted </a:t>
            </a:r>
            <a:r>
              <a:rPr b="1"/>
              <a:t>Kenichi panel</a:t>
            </a:r>
            <a:r>
              <a:rPr/>
              <a:t> (gene sets + panel gene readouts) 2) </a:t>
            </a:r>
            <a:r>
              <a:rPr b="1"/>
              <a:t>Menopause signature</a:t>
            </a:r>
            <a:r>
              <a:rPr/>
              <a:t> (discovery → refined “SenMayo-like” scoring)</a:t>
            </a:r>
          </a:p>
          <a:p>
            <a:pPr lvl="0" indent="0" marL="0">
              <a:buNone/>
            </a:pPr>
            <a:r>
              <a:rPr b="1"/>
              <a:t>Suggested visual:</a:t>
            </a:r>
            <a:r>
              <a:rPr/>
              <a:t> workflow diagram (inputs → QC/meta → panel + signatures → sensitivity checks → deliverables).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 — Cohort definitions +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Title:</a:t>
            </a:r>
            <a:r>
              <a:rPr/>
              <a:t> Menopause proxy groups and modeling</a:t>
            </a:r>
          </a:p>
          <a:p>
            <a:pPr lvl="0" indent="0" marL="0">
              <a:buNone/>
            </a:pPr>
            <a:r>
              <a:rPr b="1"/>
              <a:t>Bullets:</a:t>
            </a:r>
            <a:r>
              <a:rPr/>
              <a:t> - Menopause proxy by age-bin midpoint: - pre &lt;45; peri 45–55; post &gt;55 - Primary adjustment: SMCENTER (collection center). - Sensitivity checks: - technical covariates: SMRIN, SMTSISCH, Hardy, batch - composition proxies: adipocyte/macrophage/fibroblast marker scores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 — Targeted gene sets (Kenichi-aligned)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Title:</a:t>
            </a:r>
            <a:r>
              <a:rPr/>
              <a:t> What we tested (Kenichi panel)</a:t>
            </a:r>
          </a:p>
          <a:p>
            <a:pPr lvl="0" indent="0" marL="0">
              <a:buNone/>
            </a:pPr>
            <a:r>
              <a:rPr b="1"/>
              <a:t>Bullets:</a:t>
            </a:r>
            <a:r>
              <a:rPr/>
              <a:t> - Acute SNS immediate-early: NR4A1/2/3, FOS, JUN, EGR1 - Adrenergic receptors: ADRB1/2/3; ADRA2A/B/C - Lipolysis: PNPLA2, LIPE, ABHD5, PLIN1, etc. - Thermogenesis/beige: UCP1, PPARGC1A/B, CIDEA, DIO2, etc.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 — Subcutaneous baseline results (gene-set activity)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Title:</a:t>
            </a:r>
            <a:r>
              <a:rPr/>
              <a:t> Subcutaneous (female): baseline gene-set activity across menopause proxy</a:t>
            </a:r>
          </a:p>
          <a:p>
            <a:pPr lvl="0" indent="0" marL="0">
              <a:buNone/>
            </a:pPr>
            <a:r>
              <a:rPr b="1"/>
              <a:t>Insert figure:</a:t>
            </a:r>
            <a:br/>
            <a:r>
              <a:rPr>
                <a:latin typeface="Courier"/>
              </a:rPr>
              <a:t>GTEx_v10_AT_analysis_out/figs/kenichi_sns_panel/figure_candidate__lipolysis_thermogenesis.png</a:t>
            </a:r>
          </a:p>
          <a:p>
            <a:pPr lvl="0" indent="0" marL="0">
              <a:buNone/>
            </a:pPr>
            <a:r>
              <a:rPr b="1"/>
              <a:t>Bullets (SMCENTER-adjusted p-values):</a:t>
            </a:r>
            <a:r>
              <a:rPr/>
              <a:t> - Acute SNS markers: NS (post vs pre p≈0.16) - Lipolysis_core: ↓ in peri/post vs pre (post vs pre p≈4.1e-4) - Thermogenesis_program: ↓ in peri/post vs pre (post vs pre p≈0.0078)</a:t>
            </a:r>
          </a:p>
          <a:p>
            <a:pPr lvl="0" indent="0" marL="0">
              <a:buNone/>
            </a:pPr>
            <a:r>
              <a:rPr b="1"/>
              <a:t>Speaker note:</a:t>
            </a:r>
            <a:r>
              <a:rPr/>
              <a:t> these are bulk baseline results; interpret alongside composition sensitivity (Slides 9–10).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 — Visceral baseline results (gene-set activity)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Title:</a:t>
            </a:r>
            <a:r>
              <a:rPr/>
              <a:t> Visceral/omentum (female): baseline gene-set activity across menopause proxy</a:t>
            </a:r>
          </a:p>
          <a:p>
            <a:pPr lvl="0" indent="0" marL="0">
              <a:buNone/>
            </a:pPr>
            <a:r>
              <a:rPr b="1"/>
              <a:t>Insert figure:</a:t>
            </a:r>
            <a:br/>
            <a:r>
              <a:rPr>
                <a:latin typeface="Courier"/>
              </a:rPr>
              <a:t>GTEx_v10_AT_analysis_out/figs/kenichi_sns_panel/figure_candidate__lipolysis_thermogenesis_visceral.png</a:t>
            </a:r>
          </a:p>
          <a:p>
            <a:pPr lvl="0" indent="0" marL="0">
              <a:buNone/>
            </a:pPr>
            <a:r>
              <a:rPr b="1"/>
              <a:t>Bullets (SMCENTER-adjusted p-values):</a:t>
            </a:r>
            <a:r>
              <a:rPr/>
              <a:t> - Acute SNS markers: NS - Thermogenesis_program: ↓ in peri/post vs pre (post vs pre p≈0.020) - Lipolysis_core: weaker/NS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8 — Technical confounding sensitivity (RIN/ischemic time/etc.)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Title:</a:t>
            </a:r>
            <a:r>
              <a:rPr/>
              <a:t> Stress-testing menopause effects against technical covariates</a:t>
            </a:r>
          </a:p>
          <a:p>
            <a:pPr lvl="0" indent="0" marL="0">
              <a:buNone/>
            </a:pPr>
            <a:r>
              <a:rPr b="1"/>
              <a:t>Insert figure (subcutaneous + visceral, optional two panels):</a:t>
            </a:r>
            <a:r>
              <a:rPr/>
              <a:t> - </a:t>
            </a:r>
            <a:r>
              <a:rPr>
                <a:latin typeface="Courier"/>
              </a:rPr>
              <a:t>GTEx_v10_AT_analysis_out/figs/next_steps_2026-02-01_covariate_sensitivity/gene_set_covariate_sensitivity.png</a:t>
            </a:r>
            <a:r>
              <a:rPr/>
              <a:t> - </a:t>
            </a:r>
            <a:r>
              <a:rPr>
                <a:latin typeface="Courier"/>
              </a:rPr>
              <a:t>GTEx_v10_AT_analysis_out/figs/next_steps_2026-02-01_covariate_sensitivity/gene_set_covariate_sensitivity_visceral.png</a:t>
            </a:r>
          </a:p>
          <a:p>
            <a:pPr lvl="0" indent="0" marL="0">
              <a:buNone/>
            </a:pPr>
            <a:r>
              <a:rPr b="1"/>
              <a:t>Bullets:</a:t>
            </a:r>
            <a:r>
              <a:rPr/>
              <a:t> - Ischemic time and RIN drive major expression variation in GTEx (PC-level). - Lipolysis/thermogenesis directions generally persist under moderate tech adjustment, but aggressive batch adjustments can attenuate/flip effects (collinearity sensitivity).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9 — Composition proxy shifts (bulk adipose confounding)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Title:</a:t>
            </a:r>
            <a:r>
              <a:rPr/>
              <a:t> Bulk adipose composition shifts across menopause proxy</a:t>
            </a:r>
          </a:p>
          <a:p>
            <a:pPr lvl="0" indent="0" marL="0">
              <a:buNone/>
            </a:pPr>
            <a:r>
              <a:rPr b="1"/>
              <a:t>Insert figure:</a:t>
            </a:r>
            <a:br/>
            <a:r>
              <a:rPr>
                <a:latin typeface="Courier"/>
              </a:rPr>
              <a:t>GTEx_v10_AT_analysis_out/figs/next_steps_2026-02-01_composition/marker_scores_by_group.png</a:t>
            </a:r>
          </a:p>
          <a:p>
            <a:pPr lvl="0" indent="0" marL="0">
              <a:buNone/>
            </a:pPr>
            <a:r>
              <a:rPr b="1"/>
              <a:t>Bullets (subcutaneous):</a:t>
            </a:r>
            <a:r>
              <a:rPr/>
              <a:t> - Adipocyte marker score (ADIPOQ/PLIN1/FABP4) is lower in peri/post vs pre: - peri vs pre p≈0.00339; post vs pre p≈1.88e-4 - This can drive apparent “adipocyte program down” in bulk tissue.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10 — Composition-adjusted Kenichi gene-set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Title:</a:t>
            </a:r>
            <a:r>
              <a:rPr/>
              <a:t> Key result: subcutaneous lipolysis signal is composition-sensitive</a:t>
            </a:r>
          </a:p>
          <a:p>
            <a:pPr lvl="0" indent="0" marL="0">
              <a:buNone/>
            </a:pPr>
            <a:r>
              <a:rPr b="1"/>
              <a:t>Insert figure:</a:t>
            </a:r>
            <a:br/>
            <a:r>
              <a:rPr>
                <a:latin typeface="Courier"/>
              </a:rPr>
              <a:t>GTEx_v10_AT_analysis_out/figs/next_steps_2026-02-01_composition/kenichi_gene_set_effects_with_composition_adjustment.png</a:t>
            </a:r>
          </a:p>
          <a:p>
            <a:pPr lvl="0" indent="0" marL="0">
              <a:buNone/>
            </a:pPr>
            <a:r>
              <a:rPr b="1"/>
              <a:t>Bullets (subcutaneous, post vs pre):</a:t>
            </a:r>
            <a:r>
              <a:rPr/>
              <a:t> - lipolysis_core: - base: est≈-0.459 (p≈4.1e-4) - + composition proxies: est≈0.006 (p≈0.845) - Interpretation: bulk lipolysis-program downshift is largely explained by adipocyte-content proxies.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11 — Expanded adrenergic/cAMP/desensitization modules (baseline adaptation lens)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Title:</a:t>
            </a:r>
            <a:r>
              <a:rPr/>
              <a:t> Adrenergic/cAMP machinery: altered responsiveness signals (subcutaneous)</a:t>
            </a:r>
          </a:p>
          <a:p>
            <a:pPr lvl="0" indent="0" marL="0">
              <a:buNone/>
            </a:pPr>
            <a:r>
              <a:rPr b="1"/>
              <a:t>Insert figure:</a:t>
            </a:r>
            <a:br/>
            <a:r>
              <a:rPr>
                <a:latin typeface="Courier"/>
              </a:rPr>
              <a:t>GTEx_v10_AT_analysis_out/figs/next_steps_2026-02-01_adrenergic_modules/adrenergic_module_effect_sensitivity_post_vs_pre.png</a:t>
            </a:r>
          </a:p>
          <a:p>
            <a:pPr lvl="0" indent="0" marL="0">
              <a:buNone/>
            </a:pPr>
            <a:r>
              <a:rPr b="1"/>
              <a:t>Bullets (subcutaneous, post vs pre):</a:t>
            </a:r>
            <a:r>
              <a:rPr/>
              <a:t> - cAMP core module: down (base p≈3e-5; remains negative with composition+tech p≈0.013) - receptor desensitization module: modest down after composition adjustment (p≈0.03) - Interpretation: consistent with chronic remodeling/catecholamine resistance rather than acute activation at baseline.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12 — Menopause signature goal (SenMayo-like) + v2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Title:</a:t>
            </a:r>
            <a:r>
              <a:rPr/>
              <a:t> Building a SenMayo-like menopause signature for adipose</a:t>
            </a:r>
          </a:p>
          <a:p>
            <a:pPr lvl="0" indent="0" marL="0">
              <a:buNone/>
            </a:pPr>
            <a:r>
              <a:rPr b="1"/>
              <a:t>Bullets:</a:t>
            </a:r>
            <a:r>
              <a:rPr/>
              <a:t> - Goal: a small, interpretable gene set (no lncRNA/pseudogene), with per-gene evidence. - senMayoLike_v2 files: - </a:t>
            </a:r>
            <a:r>
              <a:rPr>
                <a:latin typeface="Courier"/>
              </a:rPr>
              <a:t>references/menopause_signature_senMayoLike_v2.tsv</a:t>
            </a:r>
            <a:r>
              <a:rPr/>
              <a:t> - </a:t>
            </a:r>
            <a:r>
              <a:rPr>
                <a:latin typeface="Courier"/>
              </a:rPr>
              <a:t>references/menopause_signature_senMayoLike_v2_evidence.tsv</a:t>
            </a:r>
            <a:r>
              <a:rPr/>
              <a:t> - Biology emphasis: estrogen metabolism + Wnt/ECM remodeling + adipocyte function.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13 — senMayoLike_v2 scoring in GTEx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Title:</a:t>
            </a:r>
            <a:r>
              <a:rPr/>
              <a:t> senMayoLike_v2 score separates menopause proxy groups (subcutaneous)</a:t>
            </a:r>
          </a:p>
          <a:p>
            <a:pPr lvl="0" indent="0" marL="0">
              <a:buNone/>
            </a:pPr>
            <a:r>
              <a:rPr b="1"/>
              <a:t>Insert figures:</a:t>
            </a:r>
            <a:r>
              <a:rPr/>
              <a:t> - </a:t>
            </a:r>
            <a:r>
              <a:rPr>
                <a:latin typeface="Courier"/>
              </a:rPr>
              <a:t>GTEx_v10_AT_analysis_out/figs/next_steps_2026-02-01_signature_refinement/senMayoLike_v2_scores_by_group.png</a:t>
            </a:r>
            <a:r>
              <a:rPr/>
              <a:t> - (optional) </a:t>
            </a:r>
            <a:r>
              <a:rPr>
                <a:latin typeface="Courier"/>
              </a:rPr>
              <a:t>.../senMayoLike_v2_scores_by_group_visceral.png</a:t>
            </a:r>
          </a:p>
          <a:p>
            <a:pPr lvl="0" indent="0" marL="0">
              <a:buNone/>
            </a:pPr>
            <a:r>
              <a:rPr b="1"/>
              <a:t>Bullets (subcutaneous, SMCENTER-adjusted):</a:t>
            </a:r>
            <a:r>
              <a:rPr/>
              <a:t> - Signed z-score: peri vs pre p≈1.39e-5; post vs pre p≈5.31e-7 - ssGSEA(all): post vs pre p≈4.91e-4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14 — Gene-by-gene evidence (examples) + pathways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Title:</a:t>
            </a:r>
            <a:r>
              <a:rPr/>
              <a:t> senMayoLike_v2: evidence-backed biology (examples)</a:t>
            </a:r>
          </a:p>
          <a:p>
            <a:pPr lvl="0" indent="0" marL="0">
              <a:buNone/>
            </a:pPr>
            <a:r>
              <a:rPr b="1"/>
              <a:t>Bullets:</a:t>
            </a:r>
            <a:r>
              <a:rPr/>
              <a:t> - Estrogen metabolism axis: HSD17B2 (adipose estrogen metabolism/insulin resistance context; PMID 36267004) - Wnt/adipose remodeling axis: SFRP2 (adipose + estrogen/fat distribution; PMID 23393180); CEMIP (adipogenesis via Wnt; PMID 40169533); DACT2 (Wnt inhibition; PMID 21799904) - ECM remodeling axis: ACAN (adipose development/obesity; PMID 17011710); MMP3 (ECM remodeling; PMID 26667911) - Adipocyte biology axis: NNAT (adipose/obesity; PMID 21894612); STRA6 (adipose insulin response/obesity; PMID 24421389)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15 — External context + recommended manuscript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Title:</a:t>
            </a:r>
            <a:r>
              <a:rPr/>
              <a:t> External context + what we can claim for the manuscript</a:t>
            </a:r>
          </a:p>
          <a:p>
            <a:pPr lvl="0" indent="0" marL="0">
              <a:buNone/>
            </a:pPr>
            <a:r>
              <a:rPr b="1"/>
              <a:t>External context (adipocyte-enriched):</a:t>
            </a:r>
            <a:r>
              <a:rPr/>
              <a:t> - GSE44000 (postmenopausal adipocytes; obese vs lean): thermogenesis/lipolysis scores trend lower in obesity (underpowered; n=14). - Figure: </a:t>
            </a:r>
            <a:r>
              <a:rPr>
                <a:latin typeface="Courier"/>
              </a:rPr>
              <a:t>GTEx_v10_AT_analysis_out/figs/external_validation_GSE44000/scores_by_group.png</a:t>
            </a:r>
          </a:p>
          <a:p>
            <a:pPr lvl="0" indent="0" marL="0">
              <a:buNone/>
            </a:pPr>
            <a:r>
              <a:rPr b="1"/>
              <a:t>Recommended claim language:</a:t>
            </a:r>
            <a:r>
              <a:rPr/>
              <a:t> - “Baseline human adipose does not show strong acute SNS transcriptional activation across menopause proxy groups. Bulk subcutaneous adipose shows program shifts that are substantially influenced by adipocyte-content proxies. Results are consistent with adipose remodeling and altered adrenergic/cAMP responsiveness (possible catecholamine resistance) rather than acute activation at baseline.”</a:t>
            </a:r>
          </a:p>
          <a:p>
            <a:pPr lvl="0" indent="0" marL="0">
              <a:buNone/>
            </a:pPr>
            <a:r>
              <a:rPr b="1"/>
              <a:t>Deliverables to send Kenichi (package):</a:t>
            </a:r>
            <a:r>
              <a:rPr/>
              <a:t> - Two-depot baseline panel figures + caveats. - Composition-adjustment figure + covariate sensitivity appendix. - senMayoLike_v2 signature + evidence table + GTEx score plots.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2026-02-01T07:25:45Z</dcterms:created>
  <dcterms:modified xsi:type="dcterms:W3CDTF">2026-02-01T07:25:45Z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