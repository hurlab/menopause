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9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48" d="100"/>
          <a:sy n="148" d="100"/>
        </p:scale>
        <p:origin x="534" y="3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700"/>
            </a:lvl1pPr>
          </a:lstStyle>
          <a:p>
            <a:fld id="{241EB5C9-1307-BA42-ABA2-0BC069CD8E7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en-US" sz="7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700"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71642"/>
            <a:ext cx="7772400" cy="1021556"/>
          </a:xfrm>
        </p:spPr>
        <p:txBody>
          <a:bodyPr/>
          <a:lstStyle/>
          <a:p>
            <a:pPr marL="0" lvl="0" indent="0" algn="ctr">
              <a:buNone/>
            </a:pPr>
            <a:r>
              <a:rPr dirty="0"/>
              <a:t>Menopause proxy + SNS/lipolysis in human adipose (</a:t>
            </a:r>
            <a:r>
              <a:rPr dirty="0" err="1"/>
              <a:t>GTEx</a:t>
            </a:r>
            <a:r>
              <a:rPr dirty="0"/>
              <a:t> v10)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FE8D6-2CAD-D0D0-C25B-D56B64F38D04}"/>
              </a:ext>
            </a:extLst>
          </p:cNvPr>
          <p:cNvSpPr txBox="1"/>
          <p:nvPr/>
        </p:nvSpPr>
        <p:spPr>
          <a:xfrm>
            <a:off x="292308" y="449226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2026-02-02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G</a:t>
            </a:r>
            <a:r>
              <a:rPr dirty="0"/>
              <a:t>oal +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Goal: add </a:t>
            </a:r>
            <a:r>
              <a:rPr i="1"/>
              <a:t>human adipose</a:t>
            </a:r>
            <a:r>
              <a:t> transcriptomic evidence consistent with adrenergic/lipolysis differences in postmenopause.</a:t>
            </a:r>
          </a:p>
          <a:p>
            <a:pPr lvl="0"/>
            <a:r>
              <a:t>Constraints:</a:t>
            </a:r>
          </a:p>
          <a:p>
            <a:pPr lvl="1"/>
            <a:r>
              <a:t>GTEx is baseline/unstimulated tissue → acute SNS transcripts may be weak.</a:t>
            </a:r>
          </a:p>
          <a:p>
            <a:pPr lvl="1"/>
            <a:r>
              <a:t>Chronic SNS can yield catecholamine resistance → directionality not straightforward.</a:t>
            </a:r>
          </a:p>
          <a:p>
            <a:pPr lvl="1"/>
            <a:r>
              <a:t>Bulk adipose is mixed cell types → composition can dominate signals.</a:t>
            </a:r>
          </a:p>
          <a:p>
            <a:r>
              <a:rPr sz="1400"/>
              <a:t>Definition here: ‘SNS activation’ = increased sympathetic/adrenergic drive to adipose; in RNA this is often proxied by immediate-early genes (NR4A/FOS/JUN/EGR1) and downstream cAMP/lipolysis programs, but baseline tissue may not capture acute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Data + cohorts (what “pre / peri / post” mean here)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dirty="0"/>
              <a:t>Dataset: </a:t>
            </a:r>
            <a:r>
              <a:rPr b="1" dirty="0" err="1"/>
              <a:t>GTEx</a:t>
            </a:r>
            <a:r>
              <a:rPr b="1" dirty="0"/>
              <a:t> v10</a:t>
            </a:r>
            <a:r>
              <a:rPr dirty="0"/>
              <a:t> bulk adipose RNA-seq (counts), analyzed separately by depot.</a:t>
            </a:r>
          </a:p>
          <a:p>
            <a:pPr lvl="0"/>
            <a:r>
              <a:rPr dirty="0"/>
              <a:t>Women-only samples:</a:t>
            </a:r>
          </a:p>
          <a:p>
            <a:pPr lvl="1"/>
            <a:r>
              <a:rPr dirty="0"/>
              <a:t>Subcutaneous: n=233</a:t>
            </a:r>
          </a:p>
          <a:p>
            <a:pPr lvl="1"/>
            <a:r>
              <a:rPr dirty="0"/>
              <a:t>Visceral (</a:t>
            </a:r>
            <a:r>
              <a:rPr dirty="0" err="1"/>
              <a:t>omentum</a:t>
            </a:r>
            <a:r>
              <a:rPr dirty="0"/>
              <a:t>): n=180</a:t>
            </a:r>
          </a:p>
          <a:p>
            <a:pPr lvl="0"/>
            <a:r>
              <a:rPr dirty="0"/>
              <a:t>Menopause proxy by </a:t>
            </a:r>
            <a:r>
              <a:rPr b="1" dirty="0"/>
              <a:t>age-bin midpoint</a:t>
            </a:r>
            <a:r>
              <a:rPr dirty="0"/>
              <a:t> (</a:t>
            </a:r>
            <a:r>
              <a:rPr dirty="0" err="1"/>
              <a:t>GTEx</a:t>
            </a:r>
            <a:r>
              <a:rPr dirty="0"/>
              <a:t> provides age bins, not true menopause status):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pre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&lt; 45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peri</a:t>
            </a:r>
            <a:r>
              <a:rPr dirty="0">
                <a:highlight>
                  <a:srgbClr val="FFFF00"/>
                </a:highlight>
              </a:rPr>
              <a:t>: 45 ≤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≤ 55</a:t>
            </a:r>
          </a:p>
          <a:p>
            <a:pPr lvl="1"/>
            <a:r>
              <a:rPr b="1" dirty="0">
                <a:highlight>
                  <a:srgbClr val="FFFF00"/>
                </a:highlight>
              </a:rPr>
              <a:t>post</a:t>
            </a:r>
            <a:r>
              <a:rPr dirty="0">
                <a:highlight>
                  <a:srgbClr val="FFFF00"/>
                </a:highlight>
              </a:rPr>
              <a:t>: </a:t>
            </a:r>
            <a:r>
              <a:rPr dirty="0" err="1">
                <a:highlight>
                  <a:srgbClr val="FFFF00"/>
                </a:highlight>
              </a:rPr>
              <a:t>age_mid</a:t>
            </a:r>
            <a:r>
              <a:rPr dirty="0">
                <a:highlight>
                  <a:srgbClr val="FFFF00"/>
                </a:highlight>
              </a:rPr>
              <a:t> &gt; 55</a:t>
            </a:r>
          </a:p>
          <a:p>
            <a:pPr lvl="0"/>
            <a:r>
              <a:rPr dirty="0"/>
              <a:t>Note (important for interpretation): </a:t>
            </a:r>
            <a:r>
              <a:rPr dirty="0" err="1"/>
              <a:t>GTEx</a:t>
            </a:r>
            <a:r>
              <a:rPr dirty="0"/>
              <a:t> age is </a:t>
            </a:r>
            <a:r>
              <a:rPr b="1" dirty="0"/>
              <a:t>10-year bins</a:t>
            </a:r>
            <a:r>
              <a:rPr dirty="0"/>
              <a:t>; with this midpoint-based rule, groups map to </a:t>
            </a:r>
            <a:r>
              <a:rPr b="1" dirty="0">
                <a:highlight>
                  <a:srgbClr val="FFFF00"/>
                </a:highlight>
              </a:rPr>
              <a:t>pre=20–49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peri=50–59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b="1" dirty="0">
                <a:highlight>
                  <a:srgbClr val="FFFF00"/>
                </a:highlight>
              </a:rPr>
              <a:t>post=60</a:t>
            </a:r>
            <a:r>
              <a:rPr b="1" dirty="0"/>
              <a:t>+</a:t>
            </a:r>
            <a:r>
              <a:rPr dirty="0"/>
              <a:t>.</a:t>
            </a:r>
          </a:p>
          <a:p>
            <a:pPr lvl="0"/>
            <a:r>
              <a:rPr dirty="0"/>
              <a:t>“Strict pre vs post” analyses exclude peri (50–59) to focus on likely extremes.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? Is this acceptable?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GTEx “batch” reality: sequencing center and batches are major covariates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In GTEx adipose, technical variables are not independent of biology:</a:t>
            </a:r>
          </a:p>
          <a:p>
            <a:pPr lvl="1"/>
            <a:r>
              <a:rPr b="1"/>
              <a:t>SMCENTER</a:t>
            </a:r>
            <a:r>
              <a:t> (sequencing center) differs by </a:t>
            </a:r>
            <a:r>
              <a:rPr b="1"/>
              <a:t>depot</a:t>
            </a:r>
            <a:r>
              <a:t>, </a:t>
            </a:r>
            <a:r>
              <a:rPr b="1"/>
              <a:t>sex</a:t>
            </a:r>
            <a:r>
              <a:t>, and </a:t>
            </a:r>
            <a:r>
              <a:rPr b="1"/>
              <a:t>age-bin distribution</a:t>
            </a:r>
            <a:r>
              <a:t>.</a:t>
            </a:r>
          </a:p>
          <a:p>
            <a:pPr lvl="1"/>
            <a:r>
              <a:t>“Batch correction” is not a single plug-and-play step because aggressive removal can also remove biology if batch is confounded with group.</a:t>
            </a:r>
          </a:p>
          <a:p>
            <a:pPr lvl="0"/>
            <a:r>
              <a:t>Therefore in downstream models we:</a:t>
            </a:r>
          </a:p>
          <a:p>
            <a:pPr lvl="1"/>
            <a:r>
              <a:t>Always include </a:t>
            </a:r>
            <a:r>
              <a:rPr b="1"/>
              <a:t>SMCENTER</a:t>
            </a:r>
            <a:r>
              <a:t> as a covariate.</a:t>
            </a:r>
          </a:p>
          <a:p>
            <a:pPr lvl="1"/>
            <a:r>
              <a:t>Treat “gene-expression batch” (e.g., </a:t>
            </a:r>
            <a:r>
              <a:rPr b="1"/>
              <a:t>SMGEBTCH</a:t>
            </a:r>
            <a:r>
              <a:t>) as a </a:t>
            </a:r>
            <a:r>
              <a:rPr b="1"/>
              <a:t>sensitivity/robustness</a:t>
            </a:r>
            <a:r>
              <a:t> adjustment (not a single “best” model).</a:t>
            </a:r>
          </a:p>
        </p:txBody>
      </p:sp>
      <p:pic>
        <p:nvPicPr>
          <p:cNvPr id="3" name="Picture 1" descr="GTEx_v10_AT_analysis_out/figs/institution_batch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66700"/>
            <a:ext cx="5105400" cy="425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Why we don’t just “ComBat everything”: batch adjustment changes conclusions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/>
            <a:r>
              <a:t>Example (female subcutaneous; 40–49 vs 50–59): naive DE can yield “significant” genes that disappear after adding </a:t>
            </a:r>
            <a:r>
              <a:rPr b="1"/>
              <a:t>SMCENTER</a:t>
            </a:r>
            <a:r>
              <a:t> (likely false positives).</a:t>
            </a:r>
          </a:p>
          <a:p>
            <a:pPr lvl="0"/>
            <a:r>
              <a:t>Visualization: left shows naive vs center-adjusted DE comparison; right shows PCA before/after ComBat (illustrates how strong center-related structure is).</a:t>
            </a:r>
          </a:p>
        </p:txBody>
      </p:sp>
      <p:pic>
        <p:nvPicPr>
          <p:cNvPr id="3" name="Picture 1" descr="GTEx_v10_AT_analysis_out/figs/batch_correction_summary_pane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How gene-set “z-scores” were computed (for Slides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For each depot (women-only), using VST-normalized expression: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1: DESeq2 VST on counts.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2: map </a:t>
            </a:r>
            <a:r>
              <a:rPr dirty="0" err="1"/>
              <a:t>Ensembl</a:t>
            </a:r>
            <a:r>
              <a:rPr dirty="0"/>
              <a:t> → gene symbols; collapse duplicates by mean.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3: for each gene in a gene set, compute per-sample z-score across samples: - z(gene, sample) = (expr − </a:t>
            </a:r>
            <a:r>
              <a:rPr dirty="0" err="1"/>
              <a:t>mean_over_samples</a:t>
            </a:r>
            <a:r>
              <a:rPr dirty="0"/>
              <a:t>) / </a:t>
            </a:r>
            <a:r>
              <a:rPr dirty="0" err="1"/>
              <a:t>sd_over_samples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	</a:t>
            </a:r>
            <a:r>
              <a:rPr dirty="0"/>
              <a:t>Step 4: gene-set score per sample = mean of z(gene, sample) across genes in the set.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Interpretation: a higher score means </a:t>
            </a:r>
            <a:r>
              <a:rPr b="1" dirty="0"/>
              <a:t>higher relative expression of the genes in that set</a:t>
            </a:r>
            <a:r>
              <a:rPr dirty="0"/>
              <a:t> </a:t>
            </a:r>
            <a:r>
              <a:rPr i="1" dirty="0"/>
              <a:t>within that depot’s cohort</a:t>
            </a:r>
            <a:r>
              <a:rPr dirty="0"/>
              <a:t> (not an absolute activity measurement).</a:t>
            </a:r>
          </a:p>
          <a:p>
            <a:r>
              <a:rPr sz="1400"/>
              <a:t>Kenichi panel gene sets (exact gene lists): references/kenichi_panel_gene_sets.tsv</a:t>
            </a:r>
          </a:p>
          <a:p>
            <a:r>
              <a:rPr sz="1400"/>
              <a:t>Plot convention: each dot = one GTEx sample’s gene-set score (not one gene).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subcutaneous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r>
              <a:rPr sz="1500"/>
              <a:t>Groups shown: pre=20–49, peri=50–59, post=60+ (age-bin proxy; not true menopause status).</a:t>
            </a:r>
          </a:p>
          <a:p>
            <a:r>
              <a:rPr sz="1500"/>
              <a:t>Score shown: mean gene-wise z-score across the genes in each set (VST expression; z computed across women in this depot).</a:t>
            </a:r>
          </a:p>
          <a:p>
            <a:r>
              <a:rPr sz="1500"/>
              <a:t>Kenichi panel includes multiple gene sets; this figure shows lipolysis_core and thermogenesis_program (program-level sets).</a:t>
            </a:r>
          </a:p>
          <a:p>
            <a:r>
              <a:rPr sz="1500"/>
              <a:t>Each dot = one sample; per-sample score = mean(z) across the genes in the set.</a:t>
            </a:r>
          </a:p>
          <a:p>
            <a:r>
              <a:rPr sz="1500"/>
              <a:t>Acute SNS immediate-early set: not robust at baseline</a:t>
            </a:r>
          </a:p>
          <a:p>
            <a:r>
              <a:rPr sz="1500"/>
              <a:t>Lipolysis and thermogenesis programs: lower in peri/post vs pre (bulk signal; see composition adjustment later)</a:t>
            </a:r>
          </a:p>
        </p:txBody>
      </p:sp>
      <p:pic>
        <p:nvPicPr>
          <p:cNvPr id="3" name="Picture 1" descr="GTEx_v10_AT_analysis_out/figs/kenichi_sns_panel/figure_candidate__lipolysis_thermogenesi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Kenichi panel — visceral baseline gene-set activity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sz="1500"/>
              <a:t>Conclusion (SMCENTER-adjusted):</a:t>
            </a:r>
            <a:endParaRPr lang="en-US" dirty="0"/>
          </a:p>
          <a:p>
            <a:r>
              <a:rPr sz="1500"/>
              <a:t>Groups shown: pre=20–49, peri=50–59, post=60+ (age-bin proxy; not true menopause status).</a:t>
            </a:r>
          </a:p>
          <a:p>
            <a:r>
              <a:rPr sz="1500"/>
              <a:t>Score shown: mean gene-wise z-score across the genes in each set (VST expression; z computed across women in this depot).</a:t>
            </a:r>
          </a:p>
          <a:p>
            <a:r>
              <a:rPr sz="1500"/>
              <a:t>Kenichi panel includes multiple gene sets; this figure shows lipolysis_core and thermogenesis_program (program-level sets).</a:t>
            </a:r>
          </a:p>
          <a:p>
            <a:r>
              <a:rPr sz="1500"/>
              <a:t>Each dot = one sample; per-sample score = mean(z) across the genes in the set.</a:t>
            </a:r>
          </a:p>
          <a:p>
            <a:r>
              <a:rPr sz="1500"/>
              <a:t>Acute SNS immediate-early set: not robust at baseline</a:t>
            </a:r>
          </a:p>
          <a:p>
            <a:r>
              <a:rPr sz="1500"/>
              <a:t>Thermogenesis program: lower in peri/post vs pre - Lipolysis core: not robust in this depot</a:t>
            </a:r>
          </a:p>
        </p:txBody>
      </p:sp>
      <p:pic>
        <p:nvPicPr>
          <p:cNvPr id="3" name="Picture 1" descr="GTEx_v10_AT_analysis_out/figs/kenichi_sns_panel/figure_candidate__lipolysis_thermogenesis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481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Confounding sensitivity analyses (what Slides 10–12 show)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These slides are NOT classical GSEA outputs.</a:t>
            </a:r>
          </a:p>
          <a:p>
            <a:r>
              <a:rPr sz="1600"/>
              <a:t>We compute per-sample gene-set/module scores from VST expression (mean gene-wise z across set genes).</a:t>
            </a:r>
          </a:p>
          <a:p>
            <a:r>
              <a:rPr sz="1600"/>
              <a:t>Then we fit linear models for group contrasts under a covariate ‘ladder’:</a:t>
            </a:r>
          </a:p>
          <a:p>
            <a:r>
              <a:rPr sz="1600"/>
              <a:t>- base: SMCENTER + group</a:t>
            </a:r>
          </a:p>
          <a:p>
            <a:r>
              <a:rPr sz="1600"/>
              <a:t>- add technical covariates: SMRIN (RIN), SMTSISCH (ischemic time), DTHHRDY, and optionally SMGEBTCH (gene-expression batch)</a:t>
            </a:r>
          </a:p>
          <a:p>
            <a:r>
              <a:rPr sz="1600"/>
              <a:t>- add composition proxies: adipocyte / macrophage / fibroblast marker scores</a:t>
            </a:r>
          </a:p>
          <a:p>
            <a:r>
              <a:rPr sz="1600"/>
              <a:t>Interpretation: if an effect disappears after adding composition proxies, the bulk-tissue signal is likely driven by cell-type proportion shifts (not necessarily per-adipocyte transcriptional change).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Technical confounding sensitivity (RIN / ischemic time / Hardy / batch)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Purpose:</a:t>
            </a:r>
            <a:r>
              <a:t> test whether menopause-proxy effects are stable when adding GTEx technical covariates.</a:t>
            </a:r>
          </a:p>
        </p:txBody>
      </p:sp>
      <p:pic>
        <p:nvPicPr>
          <p:cNvPr id="3" name="Picture 1" descr="GTEx_v10_AT_analysis_out/figs/next_steps_2026-02-01_covariate_sensitivity/gene_set_covariate_sensitivity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0431" y="1581437"/>
            <a:ext cx="6714552" cy="335727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Bulk adipose composition proxies shift with menopause proxy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adipocyte-content proxy decreases in peri/post vs pre in subcutaneous bulk tissue.</a:t>
            </a:r>
          </a:p>
        </p:txBody>
      </p:sp>
      <p:pic>
        <p:nvPicPr>
          <p:cNvPr id="3" name="Picture 1" descr="GTEx_v10_AT_analysis_out/figs/next_steps_2026-02-01_composition/marker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559124"/>
            <a:ext cx="6552288" cy="327614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Subcutaneous: composition adjustment explains “lipolysis_core down”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Key point:</a:t>
            </a:r>
            <a:r>
              <a:t> the subcutaneous lipolysis_core “down” signal is strongly composition-sensitive.</a:t>
            </a:r>
          </a:p>
        </p:txBody>
      </p:sp>
      <p:pic>
        <p:nvPicPr>
          <p:cNvPr id="3" name="Picture 1" descr="GTEx_v10_AT_analysis_out/figs/next_steps_2026-02-01_composition/kenichi_gene_set_effects_with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12814" y="1618313"/>
            <a:ext cx="7331776" cy="306402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Quick summary (confounding + composition):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Bulk adipose RNA is a mixture: bulk_expr ≈ p_adip·expr_adip + p_SVF·expr_SVF.</a:t>
            </a:r>
          </a:p>
          <a:p>
            <a:r>
              <a:rPr sz="1600"/>
              <a:t>So if adipocyte fraction (p_adip) decreases, adipocyte-enriched genes/sets can look ‘down’ in bulk even when per-adipocyte expression is unchanged.</a:t>
            </a:r>
          </a:p>
          <a:p>
            <a:r>
              <a:rPr sz="1600"/>
              <a:t>In subcutaneous GTEx, adipocyte proxy score decreases in peri/post vs pre.</a:t>
            </a:r>
          </a:p>
          <a:p>
            <a:r>
              <a:rPr sz="1600"/>
              <a:t>After adding composition proxies as covariates, the residual post–pre difference for lipolysis_core is ~0 → we cannot claim strong per-adipocyte downregulation from bulk alone.</a:t>
            </a:r>
          </a:p>
          <a:p>
            <a:r>
              <a:rPr sz="1600"/>
              <a:t>This does NOT prove there is no per-adipocyte dysregulation; it means bulk data cannot separate composition vs per-cell regulation without additional evidence (e.g., purified adipocytes or single-cell / deconvolution).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Subcutaneous: key table (post vs pre) — base vs composition-adjusted</a:t>
            </a:r>
          </a:p>
        </p:txBody>
      </p:sp>
      <p:pic>
        <p:nvPicPr>
          <p:cNvPr id="3" name="Picture 1" descr="GTEx_v10_AT_analysis_out/figs/ppt_tables_2026-02-01/table_subq_kenichi_sets_composition_adjustmen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33500" y="1193800"/>
            <a:ext cx="647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(Kenichi caveat) — trajectories across age bins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390930" cy="3518297"/>
          </a:xfrm>
        </p:spPr>
        <p:txBody>
          <a:bodyPr/>
          <a:lstStyle/>
          <a:p>
            <a:pPr lvl="0"/>
            <a:r>
              <a:rPr dirty="0"/>
              <a:t>Kenichi note: male–female comparisons are not a perfect control (men also have hormonal aging + psychosocial confounds), but can provide context.</a:t>
            </a:r>
          </a:p>
          <a:p>
            <a:pPr lvl="0"/>
            <a:r>
              <a:rPr dirty="0"/>
              <a:t>Here we plot key adipose scores across </a:t>
            </a:r>
            <a:r>
              <a:rPr dirty="0" err="1"/>
              <a:t>GTEx</a:t>
            </a:r>
            <a:r>
              <a:rPr dirty="0"/>
              <a:t> age bins in </a:t>
            </a:r>
            <a:r>
              <a:rPr b="1" dirty="0"/>
              <a:t>both sexes</a:t>
            </a:r>
            <a:r>
              <a:rPr dirty="0"/>
              <a:t> (separate depots).</a:t>
            </a:r>
          </a:p>
        </p:txBody>
      </p:sp>
      <p:pic>
        <p:nvPicPr>
          <p:cNvPr id="3" name="Picture 1" descr="GTEx_v10_AT_analysis_out/figs/next_steps_2026-02-02_sex_interaction_scores/sex_agebin_score_trajectories_key_scor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68896" y="330199"/>
            <a:ext cx="5642755" cy="456192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Male vs female context — sex×age interaction (score-level)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sz="1200" dirty="0"/>
              <a:t>Model: score ~ SMCENTER + sex + </a:t>
            </a:r>
            <a:r>
              <a:rPr sz="1200" dirty="0" err="1"/>
              <a:t>age_group</a:t>
            </a:r>
            <a:r>
              <a:rPr sz="1200" dirty="0"/>
              <a:t> + </a:t>
            </a:r>
            <a:r>
              <a:rPr sz="1200" dirty="0" err="1"/>
              <a:t>sex:age_group</a:t>
            </a:r>
            <a:r>
              <a:rPr sz="1200" dirty="0"/>
              <a:t> (base); comparisons: 40–49 vs 60–69 and 30–39 vs 60–69.</a:t>
            </a:r>
            <a:endParaRPr lang="en-US" sz="900" dirty="0"/>
          </a:p>
          <a:p>
            <a:r>
              <a:rPr sz="1200" dirty="0"/>
              <a:t>Color = −log10(p) for interaction term (female aging effect minus male aging effect).</a:t>
            </a:r>
          </a:p>
          <a:p>
            <a:r>
              <a:rPr sz="1200" dirty="0"/>
              <a:t>Interaction term = (</a:t>
            </a:r>
            <a:r>
              <a:rPr sz="1200" dirty="0" err="1"/>
              <a:t>Female_old</a:t>
            </a:r>
            <a:r>
              <a:rPr sz="1200" dirty="0"/>
              <a:t> − </a:t>
            </a:r>
            <a:r>
              <a:rPr sz="1200" dirty="0" err="1"/>
              <a:t>Female_young</a:t>
            </a:r>
            <a:r>
              <a:rPr sz="1200" dirty="0"/>
              <a:t>) − (</a:t>
            </a:r>
            <a:r>
              <a:rPr sz="1200" dirty="0" err="1"/>
              <a:t>Male_old</a:t>
            </a:r>
            <a:r>
              <a:rPr sz="1200" dirty="0"/>
              <a:t> − </a:t>
            </a:r>
            <a:r>
              <a:rPr sz="1200" dirty="0" err="1"/>
              <a:t>Male_young</a:t>
            </a:r>
            <a:r>
              <a:rPr sz="1200" dirty="0"/>
              <a:t>) = ‘female age-effect minus male age-effect’ (difference-in-differences).</a:t>
            </a:r>
          </a:p>
          <a:p>
            <a:r>
              <a:rPr sz="1200" dirty="0"/>
              <a:t>Summary: several aging effects appear stronger in males (consistent with the “male aging may be larger” caveat); female-specific interaction is modest for most scores after composition-aware adjustment.</a:t>
            </a:r>
          </a:p>
        </p:txBody>
      </p:sp>
      <p:pic>
        <p:nvPicPr>
          <p:cNvPr id="3" name="Picture 1" descr="GTEx_v10_AT_analysis_out/figs/next_steps_2026-02-02_sex_interaction_scores/sex_interaction_scores_heatmap_ba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599"/>
            <a:ext cx="5435666" cy="3258695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Adrenergic/cAMP/desensitization modules (subcutaneous)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6"/>
            <a:ext cx="2575774" cy="35182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dirty="0"/>
              <a:t>Interpretation: more compatible with altered responsiveness/chronic adaptation than acute SNS activation at baseline.</a:t>
            </a:r>
          </a:p>
          <a:p>
            <a:r>
              <a:rPr sz="1200" dirty="0"/>
              <a:t>Effect estimate = adjusted difference in module score (post − pre) from linear models.</a:t>
            </a:r>
          </a:p>
          <a:p>
            <a:r>
              <a:rPr sz="1200" dirty="0"/>
              <a:t>Models shown: base = SMCENTER + group; </a:t>
            </a:r>
            <a:r>
              <a:rPr sz="1200" dirty="0" err="1"/>
              <a:t>adj_comp</a:t>
            </a:r>
            <a:r>
              <a:rPr sz="1200" dirty="0"/>
              <a:t> = base + (adipocyte/macrophage/fibroblast proxies); </a:t>
            </a:r>
            <a:r>
              <a:rPr sz="1200" dirty="0" err="1"/>
              <a:t>adj_comp_tech</a:t>
            </a:r>
            <a:r>
              <a:rPr sz="1200" dirty="0"/>
              <a:t> = </a:t>
            </a:r>
            <a:r>
              <a:rPr sz="1200" dirty="0" err="1"/>
              <a:t>adj_comp</a:t>
            </a:r>
            <a:r>
              <a:rPr sz="1200" dirty="0"/>
              <a:t> + (SMRIN + SMTSISCH).</a:t>
            </a:r>
          </a:p>
          <a:p>
            <a:r>
              <a:rPr sz="1200" dirty="0"/>
              <a:t>Positive = higher in post; negative = lower in post (relative expression of genes in the module).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52965" y="1171976"/>
            <a:ext cx="5916122" cy="247240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Adrenergic/cAMP/desensitization modules (visceral)</a:t>
            </a:r>
          </a:p>
        </p:txBody>
      </p:sp>
      <p:pic>
        <p:nvPicPr>
          <p:cNvPr id="3" name="Picture 1" descr="GTEx_v10_AT_analysis_out/figs/next_steps_2026-02-01_adrenergic_modules/adrenergic_module_effect_sensitivity_post_vs_pre_viscera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8000" y="1193800"/>
            <a:ext cx="8140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Menopause signature: senMayoLike v2 (curated, evidence-backed)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1973" y="1229932"/>
            <a:ext cx="4913289" cy="33646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dirty="0"/>
              <a:t>Signature size: 13 total genes (12 up in post, 1 down in post).</a:t>
            </a:r>
          </a:p>
          <a:p>
            <a:r>
              <a:rPr sz="1200" dirty="0"/>
              <a:t>How selected (summary):</a:t>
            </a:r>
          </a:p>
          <a:p>
            <a:r>
              <a:rPr sz="1200" dirty="0"/>
              <a:t>- Start: </a:t>
            </a:r>
            <a:r>
              <a:rPr sz="1200" dirty="0" err="1"/>
              <a:t>GTEx</a:t>
            </a:r>
            <a:r>
              <a:rPr sz="1200" dirty="0"/>
              <a:t> subcutaneous menopause-proxy discovery list (Approach 1; 81 genes).</a:t>
            </a:r>
          </a:p>
          <a:p>
            <a:r>
              <a:rPr sz="1200" dirty="0"/>
              <a:t>- Remove lncRNA/pseudogene/keratin/blood-heavy markers; score robustness to composition + technical covariates.</a:t>
            </a:r>
          </a:p>
          <a:p>
            <a:r>
              <a:rPr sz="1200" dirty="0"/>
              <a:t>- v1 = data-driven ‘robustness-screen’ subset (top genes in </a:t>
            </a:r>
            <a:r>
              <a:rPr sz="1200" dirty="0" err="1"/>
              <a:t>adj_comp_tech</a:t>
            </a:r>
            <a:r>
              <a:rPr sz="1200" dirty="0"/>
              <a:t> model).</a:t>
            </a:r>
          </a:p>
          <a:p>
            <a:r>
              <a:rPr sz="1200" dirty="0"/>
              <a:t>- v2 (shown here) = curated, smaller, biology-interpretable subset anchored to Approach 1 direction + literature evidence (ECM/</a:t>
            </a:r>
            <a:r>
              <a:rPr sz="1200" dirty="0" err="1"/>
              <a:t>Wnt</a:t>
            </a:r>
            <a:r>
              <a:rPr sz="1200" dirty="0"/>
              <a:t>/remodeling + hormone/metabolic candidates).</a:t>
            </a:r>
          </a:p>
          <a:p>
            <a:r>
              <a:rPr sz="1200" dirty="0"/>
              <a:t>Not the same as the Kenichi SNS panel: the SNS panel is hypothesis-driven adrenergic/lipolysis sets; this is a menopause-proxy signature.</a:t>
            </a:r>
          </a:p>
          <a:p>
            <a:r>
              <a:rPr sz="1200" dirty="0"/>
              <a:t>Full per-gene evidence + sources: docs/senMayoLike_v2_signature_details_2026-02-02.xlsx (or CSV).</a:t>
            </a:r>
          </a:p>
        </p:txBody>
      </p:sp>
      <p:pic>
        <p:nvPicPr>
          <p:cNvPr id="3" name="Picture 1" descr="GTEx_v10_AT_analysis_out/figs/ppt_tables_2026-02-01/table_senMayoLike_v2_gene_lis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35262" y="204787"/>
            <a:ext cx="3876120" cy="203448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senMayoLike v2 score in GTEx (subcutaneous + visceral)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How the score is computed (Slide 13):</a:t>
            </a:r>
            <a:r>
              <a:t> - </a:t>
            </a:r>
            <a:r>
              <a:rPr>
                <a:latin typeface="Courier"/>
              </a:rPr>
              <a:t>z_signed</a:t>
            </a:r>
            <a:r>
              <a:t> = mean(z of “up” genes) − mean(z of “down” genes), using the same per-gene z-scoring as earlier. - </a:t>
            </a:r>
            <a:r>
              <a:rPr>
                <a:latin typeface="Courier"/>
              </a:rPr>
              <a:t>ssgsea_all</a:t>
            </a:r>
            <a:r>
              <a:t> = ssGSEA enrichment score (GSVA::ssgsea) using VST expression. - Conclusion: menopause-proxy groups separate most clearly in subcutaneous (post &gt; pre); visceral is weaker/noisier.</a:t>
            </a:r>
          </a:p>
        </p:txBody>
      </p:sp>
      <p:pic>
        <p:nvPicPr>
          <p:cNvPr id="3" name="Picture 1" descr="GTEx_v10_AT_analysis_out/figs/next_steps_2026-02-01_signature_refinement/senMayoLike_v2_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External context (not menopause-status): GSE44000 subcutaneous adipocytes</a:t>
            </a:r>
          </a:p>
        </p:txBody>
      </p:sp>
      <p:pic>
        <p:nvPicPr>
          <p:cNvPr id="3" name="Picture 1" descr="GTEx_v10_AT_analysis_out/figs/external_validation_GSE44000/scores_by_group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176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1139429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Dataset: GSE44000 (Agilent microarray)</a:t>
            </a:r>
          </a:p>
          <a:p>
            <a:r>
              <a:rPr sz="1300"/>
              <a:t>Tissue/cell type: isolated human subcutaneous adipocytes</a:t>
            </a:r>
          </a:p>
          <a:p>
            <a:r>
              <a:rPr sz="1300"/>
              <a:t>Subjects: postmenopausal women only (not a pre/post menopause dataset)</a:t>
            </a:r>
          </a:p>
          <a:p>
            <a:r>
              <a:rPr sz="1300"/>
              <a:t>Contrast: obese vs lean (n=14 total)</a:t>
            </a:r>
          </a:p>
          <a:p>
            <a:r>
              <a:rPr sz="1300"/>
              <a:t>Purpose here: adipocyte-enriched context to interpret programs without bulk composition confounding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Summary</a:t>
            </a:r>
            <a:r>
              <a:rPr dirty="0"/>
              <a:t> (what we can claim)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400" dirty="0"/>
              <a:t>Baseline bulk </a:t>
            </a:r>
            <a:r>
              <a:rPr sz="1400" dirty="0" err="1"/>
              <a:t>GTEx</a:t>
            </a:r>
            <a:r>
              <a:rPr sz="1400" dirty="0"/>
              <a:t> adipose does not show robust ‘acute SNS activation’ immediate-early signatures across menopause-proxy groups (NR4A/FOS/JUN/EGR1 set is weak at baseline).</a:t>
            </a:r>
          </a:p>
          <a:p>
            <a:r>
              <a:rPr sz="1400" dirty="0"/>
              <a:t>Across multiple stress-tests, we do observe shifts consistent with altered adrenergic signaling *responsiveness* (cAMP/feedback modules) and depot remodeling, which is compatible with a chronic SNS / catecholamine-resistance framework (but </a:t>
            </a:r>
            <a:r>
              <a:rPr lang="en-US" sz="1400" dirty="0"/>
              <a:t>may </a:t>
            </a:r>
            <a:r>
              <a:rPr sz="1400" dirty="0"/>
              <a:t>not directly measure SNS outflow).</a:t>
            </a:r>
          </a:p>
          <a:p>
            <a:r>
              <a:rPr sz="1400" dirty="0"/>
              <a:t>Subcutaneous bulk </a:t>
            </a:r>
            <a:r>
              <a:rPr sz="1400" dirty="0" err="1"/>
              <a:t>lipolysis_core</a:t>
            </a:r>
            <a:r>
              <a:rPr sz="1400" dirty="0"/>
              <a:t> differences are strongly composition-sensitive; after adipocyte/SVF proxy adjustment the residual post–pre difference is small → avoid per-adipocyte claims from bulk alone.</a:t>
            </a:r>
          </a:p>
          <a:p>
            <a:r>
              <a:rPr sz="1400" dirty="0"/>
              <a:t>Visceral depot shows weaker/noisier signals overall, but thermogenesis-program shifts are more consistent than lipolysis-core shifts.</a:t>
            </a:r>
          </a:p>
          <a:p>
            <a:r>
              <a:rPr sz="1400" dirty="0"/>
              <a:t>Positive finding: the evidence-backed </a:t>
            </a:r>
            <a:r>
              <a:rPr sz="1400" dirty="0" err="1"/>
              <a:t>senMayoLike</a:t>
            </a:r>
            <a:r>
              <a:rPr sz="1400" dirty="0"/>
              <a:t> v2 menopause signature (13 genes) separates menopause-proxy groups (stronger in subcutaneous).</a:t>
            </a:r>
          </a:p>
          <a:p>
            <a:r>
              <a:rPr sz="1400" dirty="0"/>
              <a:t>Recommended wording: ‘Human baseline adipose transcriptomes support menopause-associated remodeling and altered adrenergic/cAMP program behavior; acute SNS activation signatures are not robustly observed in unstimulated tissue.’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Files to share with collaborators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t>Master summary: </a:t>
            </a:r>
            <a:r>
              <a:rPr>
                <a:latin typeface="Courier"/>
              </a:rPr>
              <a:t>docs/master_summary_menopause_sns_gtex_2026-02-01.md</a:t>
            </a:r>
          </a:p>
          <a:p>
            <a:pPr lvl="0"/>
            <a:r>
              <a:t>senMayoLike v2 (full details + evidence):</a:t>
            </a:r>
          </a:p>
          <a:p>
            <a:pPr lvl="1"/>
            <a:r>
              <a:t>TSV: </a:t>
            </a:r>
            <a:r>
              <a:rPr>
                <a:latin typeface="Courier"/>
              </a:rPr>
              <a:t>references/menopause_signature_senMayoLike_v2_evidence.tsv</a:t>
            </a:r>
          </a:p>
          <a:p>
            <a:pPr lvl="1"/>
            <a:r>
              <a:t>CSV: </a:t>
            </a:r>
            <a:r>
              <a:rPr>
                <a:latin typeface="Courier"/>
              </a:rPr>
              <a:t>docs/senMayoLike_v2_signature_details_2026-02-02.csv</a:t>
            </a:r>
          </a:p>
          <a:p>
            <a:pPr lvl="1"/>
            <a:r>
              <a:t>Excel: </a:t>
            </a:r>
            <a:r>
              <a:rPr>
                <a:latin typeface="Courier"/>
              </a:rPr>
              <a:t>docs/senMayoLike_v2_signature_details_2026-02-02.xlsx</a:t>
            </a:r>
          </a:p>
          <a:p>
            <a:pPr lvl="0"/>
            <a:r>
              <a:t>Key figures:</a:t>
            </a:r>
          </a:p>
          <a:p>
            <a:pPr lvl="1"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1"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1"/>
            <a:r>
              <a:rPr>
                <a:latin typeface="Courier"/>
              </a:rPr>
              <a:t>GTEx_v10_AT_analysis_out/figs/next_steps_2026-02-01_signature_refinement/senMayoLike_v2_scores_by_group.png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2187</Words>
  <Application>Microsoft Office PowerPoint</Application>
  <PresentationFormat>On-screen Show (16:9)</PresentationFormat>
  <Paragraphs>126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Courier</vt:lpstr>
      <vt:lpstr>Arial</vt:lpstr>
      <vt:lpstr>Calibri</vt:lpstr>
      <vt:lpstr>Office Theme</vt:lpstr>
      <vt:lpstr>Menopause proxy + SNS/lipolysis in human adipose (GTEx v10)</vt:lpstr>
      <vt:lpstr>Goal + constraints</vt:lpstr>
      <vt:lpstr>Data + cohorts (what “pre / peri / post” mean here)</vt:lpstr>
      <vt:lpstr>GTEx “batch” reality: sequencing center and batches are major covariates</vt:lpstr>
      <vt:lpstr>Why we don’t just “ComBat everything”: batch adjustment changes conclusions</vt:lpstr>
      <vt:lpstr>How gene-set “z-scores” were computed (for Slides 4–6)</vt:lpstr>
      <vt:lpstr>Kenichi panel — subcutaneous baseline gene-set activity</vt:lpstr>
      <vt:lpstr>Kenichi panel — visceral baseline gene-set activity</vt:lpstr>
      <vt:lpstr>Confounding sensitivity analyses (what Slides 10–12 show)</vt:lpstr>
      <vt:lpstr>Technical confounding sensitivity (RIN / ischemic time / Hardy / batch)</vt:lpstr>
      <vt:lpstr>Bulk adipose composition proxies shift with menopause proxy</vt:lpstr>
      <vt:lpstr>Subcutaneous: composition adjustment explains “lipolysis_core down”</vt:lpstr>
      <vt:lpstr>Quick summary (confounding + composition): interpretation</vt:lpstr>
      <vt:lpstr>Subcutaneous: key table (post vs pre) — base vs composition-adjusted</vt:lpstr>
      <vt:lpstr>Male vs female context (Kenichi caveat) — trajectories across age bins</vt:lpstr>
      <vt:lpstr>Male vs female context — sex×age interaction (score-level)</vt:lpstr>
      <vt:lpstr>Adrenergic/cAMP/desensitization modules (subcutaneous)</vt:lpstr>
      <vt:lpstr>Adrenergic/cAMP/desensitization modules (visceral)</vt:lpstr>
      <vt:lpstr>Menopause signature: senMayoLike v2 (curated, evidence-backed)</vt:lpstr>
      <vt:lpstr>senMayoLike v2 score in GTEx (subcutaneous + visceral)</vt:lpstr>
      <vt:lpstr>External context (not menopause-status): GSE44000 subcutaneous adipocytes</vt:lpstr>
      <vt:lpstr>Summary (what we can claim)</vt:lpstr>
      <vt:lpstr>Files to share with collaborators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Junguk Hur</dc:creator>
  <cp:keywords/>
  <cp:lastModifiedBy>Hur, Junguk</cp:lastModifiedBy>
  <cp:revision>7</cp:revision>
  <dcterms:created xsi:type="dcterms:W3CDTF">2026-02-02T05:20:11Z</dcterms:created>
  <dcterms:modified xsi:type="dcterms:W3CDTF">2026-02-02T15:41:42Z</dcterms:modified>
</cp:coreProperties>
</file>